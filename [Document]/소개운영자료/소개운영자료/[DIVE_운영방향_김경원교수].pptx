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72" r:id="rId2"/>
    <p:sldId id="365" r:id="rId3"/>
    <p:sldId id="373" r:id="rId4"/>
    <p:sldId id="367" r:id="rId5"/>
    <p:sldId id="370" r:id="rId6"/>
    <p:sldId id="371" r:id="rId7"/>
    <p:sldId id="369" r:id="rId8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5" roundtripDataSignature="AMtx7miUWwlRzSp7FmXEzuK0I58SVnB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742053-E664-4C57-AEBF-A2CFF378C27F}">
  <a:tblStyle styleId="{0F742053-E664-4C57-AEBF-A2CFF378C27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F0A71B-DF51-430A-86BD-894545E53AB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8F0"/>
          </a:solidFill>
        </a:fill>
      </a:tcStyle>
    </a:wholeTbl>
    <a:band1H>
      <a:tcTxStyle/>
      <a:tcStyle>
        <a:tcBdr/>
        <a:fill>
          <a:solidFill>
            <a:srgbClr val="CACFD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FD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6" autoAdjust="0"/>
    <p:restoredTop sz="90423" autoAdjust="0"/>
  </p:normalViewPr>
  <p:slideViewPr>
    <p:cSldViewPr snapToGrid="0">
      <p:cViewPr varScale="1">
        <p:scale>
          <a:sx n="151" d="100"/>
          <a:sy n="151" d="100"/>
        </p:scale>
        <p:origin x="1976" y="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1268" y="104"/>
      </p:cViewPr>
      <p:guideLst>
        <p:guide orient="horz" pos="2880"/>
        <p:guide pos="2160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0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6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5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65469B5-8E34-4E50-B740-37EF9223D2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712574-5E75-4261-B839-82DEFF414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758C4-0839-4DFD-B23C-C4B0E1666FA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A01415-B482-4F4D-9407-5E5120E718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E47CE7-3EA3-4C86-B438-5849285101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A0B07-F7AB-4333-9DE8-902ADF793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3837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4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BAE1EF43-5B23-1754-FDCC-F8942711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19D6380E-D328-EF88-18E2-88AEB2BC9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A7A79743-D0B7-43E1-C3B1-0E1D3A32A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08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220475B2-B676-AD2C-4943-EA4B14328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2DA4CCD5-D5C3-1ED4-C48A-4B40D46CA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BBA2AB30-D2C7-3CEF-CC3F-B4E907208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5351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6D995013-4226-2582-4E70-CEB26ABB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D67D3314-E025-F744-6602-8EB9E20FD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399546D5-2311-8373-EDBE-7DAB34128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987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04BE0B2B-387D-11A5-A011-54F82192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46FB8681-2539-0413-9185-44979CECD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EB9ACB1E-D913-4C42-081A-DECA6B131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1335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8B3C8F36-5234-930E-719A-F80CF2E18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1C951375-4387-FC68-4DF3-4693A606F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692FF73E-6277-B34C-86F2-0A63282E3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6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38886A70-0C8E-0B6E-B3CD-6AB75C59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098D23DC-CC4D-0196-5523-67666CC55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2AF9D8C2-DC04-CCD7-4C37-BD6BE189B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0662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5323562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1;p11">
            <a:extLst>
              <a:ext uri="{FF2B5EF4-FFF2-40B4-BE49-F238E27FC236}">
                <a16:creationId xmlns:a16="http://schemas.microsoft.com/office/drawing/2014/main" id="{51232039-1D42-424B-BCD5-17B75DB3DC0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665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57" y="237995"/>
            <a:ext cx="767089" cy="76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2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>
  <p:cSld name="본문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4B3271A3-57E1-4EBB-8B03-60F822F6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3001" y="6447522"/>
            <a:ext cx="718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F5A3-DAD3-49E7-B926-6F61E4EB127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37</a:t>
            </a:r>
            <a:endParaRPr lang="ko-KR" altLang="en-US" dirty="0"/>
          </a:p>
        </p:txBody>
      </p:sp>
      <p:pic>
        <p:nvPicPr>
          <p:cNvPr id="1026" name="Picture 2" descr="Incheon National University">
            <a:extLst>
              <a:ext uri="{FF2B5EF4-FFF2-40B4-BE49-F238E27FC236}">
                <a16:creationId xmlns:a16="http://schemas.microsoft.com/office/drawing/2014/main" id="{67AC1A50-49EF-4B80-B4BC-4DE794D69D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E48C931-5A5E-4520-87FC-715A28FEF557}"/>
              </a:ext>
            </a:extLst>
          </p:cNvPr>
          <p:cNvSpPr txBox="1">
            <a:spLocks/>
          </p:cNvSpPr>
          <p:nvPr userDrawn="1"/>
        </p:nvSpPr>
        <p:spPr>
          <a:xfrm>
            <a:off x="44671" y="6446170"/>
            <a:ext cx="1301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dirty="0"/>
              <a:t>Kyungwon</a:t>
            </a:r>
            <a:r>
              <a:rPr lang="ko-KR" altLang="en-US" dirty="0"/>
              <a:t> </a:t>
            </a:r>
            <a:r>
              <a:rPr lang="en-US" altLang="ko-KR" dirty="0"/>
              <a:t>Kim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6_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2"/>
          <p:cNvSpPr txBox="1"/>
          <p:nvPr/>
        </p:nvSpPr>
        <p:spPr>
          <a:xfrm>
            <a:off x="4256048" y="6498147"/>
            <a:ext cx="66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r>
              <a:rPr lang="en-US" sz="12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/ 47</a:t>
            </a:r>
            <a:endParaRPr sz="2400" b="0" i="0" u="none" strike="noStrike" cap="none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A4293-BEFB-4D6F-8696-D4A57B20003E}"/>
              </a:ext>
            </a:extLst>
          </p:cNvPr>
          <p:cNvSpPr txBox="1"/>
          <p:nvPr userDrawn="1"/>
        </p:nvSpPr>
        <p:spPr>
          <a:xfrm>
            <a:off x="6263" y="6504485"/>
            <a:ext cx="1637797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altLang="ko-KR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Kyungwon Kim</a:t>
            </a:r>
            <a:endParaRPr lang="en-US" altLang="ko-KR"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6" descr="No photo description available.">
            <a:extLst>
              <a:ext uri="{FF2B5EF4-FFF2-40B4-BE49-F238E27FC236}">
                <a16:creationId xmlns:a16="http://schemas.microsoft.com/office/drawing/2014/main" id="{50AD2A6C-B0A4-4A54-ACFD-982D2E56D98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1" t="9393" r="20368" b="58337"/>
          <a:stretch/>
        </p:blipFill>
        <p:spPr bwMode="auto">
          <a:xfrm>
            <a:off x="7357734" y="6456807"/>
            <a:ext cx="1611126" cy="33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41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끝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329;p25">
            <a:extLst>
              <a:ext uri="{FF2B5EF4-FFF2-40B4-BE49-F238E27FC236}">
                <a16:creationId xmlns:a16="http://schemas.microsoft.com/office/drawing/2014/main" id="{5AED18BC-03E3-4116-93FD-57168EE9BD3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2273" b="23493"/>
          <a:stretch/>
        </p:blipFill>
        <p:spPr>
          <a:xfrm>
            <a:off x="2412000" y="4885764"/>
            <a:ext cx="4320000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30;p25">
            <a:extLst>
              <a:ext uri="{FF2B5EF4-FFF2-40B4-BE49-F238E27FC236}">
                <a16:creationId xmlns:a16="http://schemas.microsoft.com/office/drawing/2014/main" id="{0FA726C6-126F-45B9-8A60-392294CADA37}"/>
              </a:ext>
            </a:extLst>
          </p:cNvPr>
          <p:cNvSpPr txBox="1"/>
          <p:nvPr userDrawn="1"/>
        </p:nvSpPr>
        <p:spPr>
          <a:xfrm>
            <a:off x="441189" y="2694838"/>
            <a:ext cx="8261622" cy="63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8125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alibri"/>
              <a:buNone/>
            </a:pP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THANK</a:t>
            </a:r>
            <a:r>
              <a:rPr lang="ko-KR" altLang="en-US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sz="32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" descr="Incheon National University">
            <a:extLst>
              <a:ext uri="{FF2B5EF4-FFF2-40B4-BE49-F238E27FC236}">
                <a16:creationId xmlns:a16="http://schemas.microsoft.com/office/drawing/2014/main" id="{48921185-2237-4DA4-9539-F7ECAC1B1E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65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>
  <p:cSld name="끝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p13">
            <a:extLst>
              <a:ext uri="{FF2B5EF4-FFF2-40B4-BE49-F238E27FC236}">
                <a16:creationId xmlns:a16="http://schemas.microsoft.com/office/drawing/2014/main" id="{70552551-A7B4-403E-B6E6-6C578B4CB8E7}"/>
              </a:ext>
            </a:extLst>
          </p:cNvPr>
          <p:cNvSpPr/>
          <p:nvPr userDrawn="1"/>
        </p:nvSpPr>
        <p:spPr>
          <a:xfrm>
            <a:off x="3835400" y="0"/>
            <a:ext cx="5308600" cy="6858000"/>
          </a:xfrm>
          <a:prstGeom prst="rect">
            <a:avLst/>
          </a:prstGeom>
          <a:gradFill>
            <a:gsLst>
              <a:gs pos="0">
                <a:srgbClr val="002C63"/>
              </a:gs>
              <a:gs pos="50000">
                <a:srgbClr val="004090"/>
              </a:gs>
              <a:gs pos="100000">
                <a:srgbClr val="004DAD"/>
              </a:gs>
            </a:gsLst>
            <a:lin ang="18900000" scaled="0"/>
          </a:gradFill>
          <a:ln w="12700" cap="flat" cmpd="sng">
            <a:solidFill>
              <a:srgbClr val="0238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6;p13" descr="I:\YISSUE\삼성\그래픽 모티브\아이콘\브랜딩4-1(아이콘)-16.png">
            <a:extLst>
              <a:ext uri="{FF2B5EF4-FFF2-40B4-BE49-F238E27FC236}">
                <a16:creationId xmlns:a16="http://schemas.microsoft.com/office/drawing/2014/main" id="{C7A23493-641B-4659-85D0-B93D41F8497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656"/>
          <a:stretch/>
        </p:blipFill>
        <p:spPr>
          <a:xfrm>
            <a:off x="3835400" y="-2"/>
            <a:ext cx="5308600" cy="685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7;p13">
            <a:extLst>
              <a:ext uri="{FF2B5EF4-FFF2-40B4-BE49-F238E27FC236}">
                <a16:creationId xmlns:a16="http://schemas.microsoft.com/office/drawing/2014/main" id="{20189312-7A10-49BE-B7ED-FEE9D6740BA6}"/>
              </a:ext>
            </a:extLst>
          </p:cNvPr>
          <p:cNvCxnSpPr/>
          <p:nvPr userDrawn="1"/>
        </p:nvCxnSpPr>
        <p:spPr>
          <a:xfrm>
            <a:off x="0" y="1417973"/>
            <a:ext cx="234315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29;p13">
            <a:extLst>
              <a:ext uri="{FF2B5EF4-FFF2-40B4-BE49-F238E27FC236}">
                <a16:creationId xmlns:a16="http://schemas.microsoft.com/office/drawing/2014/main" id="{81D7D377-02C3-408B-AB85-76B76549493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0573" t="22273" r="7872" b="23493"/>
          <a:stretch/>
        </p:blipFill>
        <p:spPr>
          <a:xfrm>
            <a:off x="161365" y="5118847"/>
            <a:ext cx="3523129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0;p13">
            <a:extLst>
              <a:ext uri="{FF2B5EF4-FFF2-40B4-BE49-F238E27FC236}">
                <a16:creationId xmlns:a16="http://schemas.microsoft.com/office/drawing/2014/main" id="{289E2C37-BA8C-40A9-9BB0-E870A95D78BA}"/>
              </a:ext>
            </a:extLst>
          </p:cNvPr>
          <p:cNvSpPr txBox="1"/>
          <p:nvPr userDrawn="1"/>
        </p:nvSpPr>
        <p:spPr>
          <a:xfrm>
            <a:off x="4363454" y="3167390"/>
            <a:ext cx="449981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8C90C9FE-6D18-47E2-BD91-7BD737A7A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100220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80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0" r:id="rId3"/>
    <p:sldLayoutId id="2147483662" r:id="rId4"/>
    <p:sldLayoutId id="2147483661" r:id="rId5"/>
    <p:sldLayoutId id="214748366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Tutorial-Probability-Statistics-Algorithm-DataScience" TargetMode="External"/><Relationship Id="rId7" Type="http://schemas.openxmlformats.org/officeDocument/2006/relationships/hyperlink" Target="https://www.youtube.com/playlist?list=PLYP0LH6y1TM6H3o82V-vDqQ7DbiRLJf4J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playlist?list=PLYP0LH6y1TM4P3HMNM3JQ8MFx8z6nLo9O" TargetMode="External"/><Relationship Id="rId5" Type="http://schemas.openxmlformats.org/officeDocument/2006/relationships/hyperlink" Target="https://github.com/thekimk/Tutorial-Python-Programming" TargetMode="External"/><Relationship Id="rId4" Type="http://schemas.openxmlformats.org/officeDocument/2006/relationships/hyperlink" Target="https://www.youtube.com/playlist?list=PLYP0LH6y1TM4DOvCt0BhJhxXjCniU4-_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All-About-Machine-Learn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playlist?list=PLYP0LH6y1TM50-9XqZfI2bbIOXCxYLauH" TargetMode="External"/><Relationship Id="rId4" Type="http://schemas.openxmlformats.org/officeDocument/2006/relationships/hyperlink" Target="https://www.youtube.com/playlist?list=PLYP0LH6y1TM6Khh6_ydAPoC9Fj4H_Vp-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All-About-Deep-Learn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playlist?list=PLYP0LH6y1TM77hdoLW5W5IdvQpk20UK5W" TargetMode="External"/><Relationship Id="rId5" Type="http://schemas.openxmlformats.org/officeDocument/2006/relationships/hyperlink" Target="https://github.com/thekimk/All-About-Time-Series-Analysis" TargetMode="External"/><Relationship Id="rId4" Type="http://schemas.openxmlformats.org/officeDocument/2006/relationships/hyperlink" Target="https://youtube.com/playlist?list=PLYP0LH6y1TM6s-bdE1Og3U6_SnV6CsqwJ&amp;si=o1BDtamwTK9are_e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github.com/thekimk/Lecture-NIA/tree/main/Data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dis.kostat.go.kr/dwnlSvc/ofrSurvSearch.do?curMenuNo=UI_POR_P9240" TargetMode="External"/><Relationship Id="rId5" Type="http://schemas.openxmlformats.org/officeDocument/2006/relationships/hyperlink" Target="https://github.com/thekimk/Lecture-NIA/blob/main/Data/df_concat_BA1.csv" TargetMode="External"/><Relationship Id="rId4" Type="http://schemas.openxmlformats.org/officeDocument/2006/relationships/hyperlink" Target="https://github.com/thekimk/Lecture-N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8D6BA330-23B8-F760-0A76-C3D7FFA7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087968D2-CC12-78B3-4C68-498D2BC41C3E}"/>
              </a:ext>
            </a:extLst>
          </p:cNvPr>
          <p:cNvSpPr txBox="1"/>
          <p:nvPr/>
        </p:nvSpPr>
        <p:spPr>
          <a:xfrm>
            <a:off x="6063094" y="2300797"/>
            <a:ext cx="2717652" cy="257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애널리스트 역량 입증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본인 진로의 전문성을 입증할 수 있는 산출물을 제시하며 브랜딩 집중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자격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Studing Diving + Project Diving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필수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산출물 우선순위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결국 개인 포트폴리오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창업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특허 제안서 작성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KCI/SCIE/SSCI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연구논문 작성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공모전 수상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주의사항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학기에는 지도교수와의 직접 지도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학기에는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인공지능기반의사결정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수강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청강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실질적 효과를 위해선 선행된 공모전이나 연구 또는 창업현황을 미리 분석 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빠른 대응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작성 필수적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필요에 따라 도구 스터디 및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Diving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가이드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5898717B-FB10-775E-F108-8E47309100A1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8C001949-097F-D3F4-DBA9-D80CD42423D8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ata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nsight &amp;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alue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xploration)</a:t>
            </a: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379858C0-4351-C5DC-E37E-DD8690F69DAB}"/>
              </a:ext>
            </a:extLst>
          </p:cNvPr>
          <p:cNvSpPr/>
          <p:nvPr/>
        </p:nvSpPr>
        <p:spPr>
          <a:xfrm>
            <a:off x="370982" y="1971883"/>
            <a:ext cx="2717652" cy="303475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79934BCB-66EE-3C98-4AD0-6B242313D549}"/>
              </a:ext>
            </a:extLst>
          </p:cNvPr>
          <p:cNvSpPr/>
          <p:nvPr/>
        </p:nvSpPr>
        <p:spPr>
          <a:xfrm>
            <a:off x="370982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Diving</a:t>
            </a: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2A7E659A-7D3A-AAC8-A05D-A83521BE3382}"/>
              </a:ext>
            </a:extLst>
          </p:cNvPr>
          <p:cNvSpPr/>
          <p:nvPr/>
        </p:nvSpPr>
        <p:spPr>
          <a:xfrm>
            <a:off x="3217039" y="1971886"/>
            <a:ext cx="2717652" cy="3034749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6E4A68BD-514F-D12A-4F9E-9014C4F87716}"/>
              </a:ext>
            </a:extLst>
          </p:cNvPr>
          <p:cNvSpPr/>
          <p:nvPr/>
        </p:nvSpPr>
        <p:spPr>
          <a:xfrm>
            <a:off x="3217039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Diving</a:t>
            </a:r>
            <a:endParaRPr sz="18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CC4FC95D-2FE7-304C-A836-D951E6867A4B}"/>
              </a:ext>
            </a:extLst>
          </p:cNvPr>
          <p:cNvSpPr/>
          <p:nvPr/>
        </p:nvSpPr>
        <p:spPr>
          <a:xfrm>
            <a:off x="6063095" y="1971886"/>
            <a:ext cx="2717652" cy="3034749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ABAECF0B-912F-A781-2EB6-68345587DB82}"/>
              </a:ext>
            </a:extLst>
          </p:cNvPr>
          <p:cNvSpPr/>
          <p:nvPr/>
        </p:nvSpPr>
        <p:spPr>
          <a:xfrm>
            <a:off x="6063095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 Diving</a:t>
            </a:r>
            <a:endParaRPr sz="18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396626-1ADE-5AA0-CC6A-67452AD2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0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721;p43">
                <a:extLst>
                  <a:ext uri="{FF2B5EF4-FFF2-40B4-BE49-F238E27FC236}">
                    <a16:creationId xmlns:a16="http://schemas.microsoft.com/office/drawing/2014/main" id="{B485AA15-4A9C-9F40-FB93-BE8210CE5D84}"/>
                  </a:ext>
                </a:extLst>
              </p:cNvPr>
              <p:cNvSpPr txBox="1"/>
              <p:nvPr/>
            </p:nvSpPr>
            <p:spPr>
              <a:xfrm>
                <a:off x="370982" y="2300797"/>
                <a:ext cx="2717652" cy="2539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목표</a:t>
                </a:r>
                <a:r>
                  <a:rPr lang="en-US" altLang="ko-KR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데이터 기반 의사결정 지식 습득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학습</a:t>
                </a:r>
                <a:r>
                  <a:rPr lang="en-US" altLang="ko-KR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</a:p>
              <a:p>
                <a:pPr marR="0" lvl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</a:pP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① 데이터 의사결정 프로세스 완성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lvl="0">
                  <a:lnSpc>
                    <a:spcPct val="120000"/>
                  </a:lnSpc>
                  <a:buSzPts val="1400"/>
                </a:pP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② 머신러닝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딥러닝 알고리즘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주의사항</a:t>
                </a:r>
                <a:r>
                  <a:rPr lang="en-US" altLang="ko-KR" sz="105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도구사용법이 아닌 지식습득이 우선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도구는 스터디 대상이 아니라 필요시 선택 수단</a:t>
                </a:r>
                <a:endParaRPr lang="en-US" altLang="ko-KR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게으름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/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효율을 높여주는 도구는 있어도 지식을 늘려주는 도구는 없으므로 스터디 대상 비추천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도구는 각자가 활용하고 스스로 전문가가 된 후 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DIVE</a:t>
                </a: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에 소개하며 서로 효율을 높이는게 바람직하며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도구가 스터디 대상이 되어 지식이 늦어지면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도구만 써보다 창의적 생산자가 아닌 충성스런 소비자로써만 증명되고 졸업하게 될 것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~ (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도구사용경험 </a:t>
                </a:r>
                <a14:m>
                  <m:oMath xmlns:m="http://schemas.openxmlformats.org/officeDocument/2006/math">
                    <m:r>
                      <a:rPr lang="en-US" altLang="ko-KR" sz="8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≠</m:t>
                    </m:r>
                  </m:oMath>
                </a14:m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전문가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스터디 내용 문서화 및 피드백 필수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  <a:endParaRPr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3" name="Google Shape;721;p43">
                <a:extLst>
                  <a:ext uri="{FF2B5EF4-FFF2-40B4-BE49-F238E27FC236}">
                    <a16:creationId xmlns:a16="http://schemas.microsoft.com/office/drawing/2014/main" id="{A53C4606-6E1E-5825-667D-E9A7F3F56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2" y="2300797"/>
                <a:ext cx="2717652" cy="2539116"/>
              </a:xfrm>
              <a:prstGeom prst="rect">
                <a:avLst/>
              </a:prstGeom>
              <a:blipFill>
                <a:blip r:embed="rId3"/>
                <a:stretch>
                  <a:fillRect l="-897" t="-1439" b="-21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721;p43">
            <a:extLst>
              <a:ext uri="{FF2B5EF4-FFF2-40B4-BE49-F238E27FC236}">
                <a16:creationId xmlns:a16="http://schemas.microsoft.com/office/drawing/2014/main" id="{43BB4752-03C4-AED7-02A5-9597DE7AACE8}"/>
              </a:ext>
            </a:extLst>
          </p:cNvPr>
          <p:cNvSpPr txBox="1"/>
          <p:nvPr/>
        </p:nvSpPr>
        <p:spPr>
          <a:xfrm>
            <a:off x="3217038" y="2300797"/>
            <a:ext cx="2717652" cy="252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숫자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이미지 데이터 활용 실제 비즈니스 문제 해결 역량 습득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자격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Study Diving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지식 필수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숫자 기반 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XAI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애널리틱스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ko-KR" alt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 및 이미지 기반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패턴 추출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활용 비즈니스 미래 수요예측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주의사항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 지식이나 코드를 직접적으로 전달하지는 않고 방향만 가이드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스스로 필요 지식과 코드를 탐색 및 문제를 해결 또는 개선할 수 있는 역량 함양이 목적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필요에 따라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와 같은 도구 사용 스터디 필요 및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Diving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과정에 가이드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F5598CE9-8BA2-8C48-7612-2A715616956F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010014" y="258246"/>
            <a:ext cx="281780" cy="2842192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93C421CB-332D-46B9-7D30-1EB9F726250C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856070" y="254381"/>
            <a:ext cx="281780" cy="2849921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78F7226-4E4B-BE66-94FA-9102EE805DEC}"/>
              </a:ext>
            </a:extLst>
          </p:cNvPr>
          <p:cNvCxnSpPr>
            <a:cxnSpLocks/>
            <a:stCxn id="579" idx="2"/>
            <a:endCxn id="583" idx="0"/>
          </p:cNvCxnSpPr>
          <p:nvPr/>
        </p:nvCxnSpPr>
        <p:spPr>
          <a:xfrm>
            <a:off x="4572000" y="1538452"/>
            <a:ext cx="3865" cy="28178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534;p39">
            <a:extLst>
              <a:ext uri="{FF2B5EF4-FFF2-40B4-BE49-F238E27FC236}">
                <a16:creationId xmlns:a16="http://schemas.microsoft.com/office/drawing/2014/main" id="{17C4A2CC-4D08-EB54-ACEB-02143258CB50}"/>
              </a:ext>
            </a:extLst>
          </p:cNvPr>
          <p:cNvSpPr txBox="1"/>
          <p:nvPr/>
        </p:nvSpPr>
        <p:spPr>
          <a:xfrm>
            <a:off x="594703" y="5058127"/>
            <a:ext cx="7954483" cy="1222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모집시기 및 모집인원</a:t>
            </a:r>
            <a:r>
              <a:rPr lang="en-US" altLang="ko-KR" sz="10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매년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6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월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일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~ 15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일 구글폼 활용 정기모집으로 약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10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명 내외 모집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+ 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필요시 분기별 수시모집</a:t>
            </a:r>
            <a:endParaRPr lang="en-US" altLang="ko-KR" sz="10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지원자격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나이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전공 제한없음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비즈니스데이터사이언스의이해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디지털비즈니스애널리틱스 등 교내외 유관수업 이수자</a:t>
            </a:r>
            <a:endParaRPr lang="en-US" altLang="ko-KR" sz="1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우대사항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지원자격이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학년 수준의 지식이지만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년 이상의 집중적인 활동이 가능한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1~3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학년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타 활동 빈도 낮은자</a:t>
            </a:r>
            <a:endParaRPr lang="en-US" altLang="ko-KR" sz="1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분기운영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기존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신규 멤버들의 상황에 따라 스스로 최소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개 이상의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Study/Project/Brand Diving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활동 선택 후 매주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DIVE-DAY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정기 모임 집중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분기별운영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해당분기 활동 후 다음 분기에 목표를 내부적으로 재설정하고 멤버들도 다음 분기 활동을 재선택 하며 역량을 강화하고 완성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3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/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F075A8-4252-AF85-AD17-CC86EF746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1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F2D9B29E-711C-E92C-D3FC-DFADA77AB9CE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F3503539-3AFB-8E69-7B80-95937887FEDE}"/>
              </a:ext>
            </a:extLst>
          </p:cNvPr>
          <p:cNvSpPr txBox="1"/>
          <p:nvPr/>
        </p:nvSpPr>
        <p:spPr>
          <a:xfrm>
            <a:off x="381606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2025 3Q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F57A510E-6338-5263-DAAA-BDBFACDB3A0A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B59D5234-CB93-F6AC-0C35-7D5FFF667235}"/>
              </a:ext>
            </a:extLst>
          </p:cNvPr>
          <p:cNvGrpSpPr/>
          <p:nvPr/>
        </p:nvGrpSpPr>
        <p:grpSpPr>
          <a:xfrm>
            <a:off x="231276" y="2527791"/>
            <a:ext cx="2091340" cy="3015618"/>
            <a:chOff x="3017861" y="4222351"/>
            <a:chExt cx="1917633" cy="3015618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CA4CE6DA-42F9-C23E-AA79-347BE790A8E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 </a:t>
              </a:r>
              <a:r>
                <a:rPr lang="en-US" altLang="ko-KR" sz="800" b="1" u="sng">
                  <a:cs typeface="Arial" pitchFamily="34" charset="0"/>
                </a:rPr>
                <a:t>&amp; </a:t>
              </a:r>
              <a:r>
                <a:rPr lang="ko-KR" altLang="en-US" sz="800" b="1" u="sng">
                  <a:cs typeface="Arial" pitchFamily="34" charset="0"/>
                </a:rPr>
                <a:t>비즈니스수요예측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(4)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3369309B-B2BE-C06E-FD1D-CF6B6BE79E70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592" name="타원 591">
            <a:extLst>
              <a:ext uri="{FF2B5EF4-FFF2-40B4-BE49-F238E27FC236}">
                <a16:creationId xmlns:a16="http://schemas.microsoft.com/office/drawing/2014/main" id="{08E10661-45F6-9567-47B8-9E1BEA691825}"/>
              </a:ext>
            </a:extLst>
          </p:cNvPr>
          <p:cNvSpPr/>
          <p:nvPr/>
        </p:nvSpPr>
        <p:spPr>
          <a:xfrm>
            <a:off x="862183" y="5443940"/>
            <a:ext cx="829524" cy="8295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357627FE-0465-3E0F-AEDC-08D827AB3B4D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9947AEEC-BAD3-DA58-2F15-F78101FC05BB}"/>
              </a:ext>
            </a:extLst>
          </p:cNvPr>
          <p:cNvSpPr txBox="1"/>
          <p:nvPr/>
        </p:nvSpPr>
        <p:spPr>
          <a:xfrm>
            <a:off x="2598712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2025 4Q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22A3A13D-3E85-1592-D7CB-679EFBD9BC9C}"/>
              </a:ext>
            </a:extLst>
          </p:cNvPr>
          <p:cNvGrpSpPr/>
          <p:nvPr/>
        </p:nvGrpSpPr>
        <p:grpSpPr>
          <a:xfrm>
            <a:off x="2448382" y="2527791"/>
            <a:ext cx="2091340" cy="2769397"/>
            <a:chOff x="3017861" y="4222351"/>
            <a:chExt cx="1917633" cy="276939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6DA4AEF-9021-9F11-A08D-8523E5D9C0DF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비즈니스 애널리틱스</a:t>
              </a:r>
              <a:r>
                <a:rPr lang="en-US" altLang="ko-KR" sz="800" b="1">
                  <a:cs typeface="Arial" pitchFamily="34" charset="0"/>
                </a:rPr>
                <a:t>1:</a:t>
              </a:r>
              <a:r>
                <a:rPr lang="en-US" altLang="ko-KR" sz="800">
                  <a:cs typeface="Arial" pitchFamily="34" charset="0"/>
                </a:rPr>
                <a:t> </a:t>
              </a: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비즈니스 애널리틱스</a:t>
              </a:r>
              <a:r>
                <a:rPr lang="en-US" altLang="ko-KR" sz="800" b="1">
                  <a:cs typeface="Arial" pitchFamily="34" charset="0"/>
                </a:rPr>
                <a:t>2:</a:t>
              </a:r>
              <a:r>
                <a:rPr lang="en-US" altLang="ko-KR" sz="800">
                  <a:cs typeface="Arial" pitchFamily="34" charset="0"/>
                </a:rPr>
                <a:t> </a:t>
              </a: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0DE5D15B-1F86-7651-F18F-148759C6DFEA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657" name="타원 656">
            <a:extLst>
              <a:ext uri="{FF2B5EF4-FFF2-40B4-BE49-F238E27FC236}">
                <a16:creationId xmlns:a16="http://schemas.microsoft.com/office/drawing/2014/main" id="{5A7F13BB-005A-FBD3-7A03-D7F64DB1089F}"/>
              </a:ext>
            </a:extLst>
          </p:cNvPr>
          <p:cNvSpPr/>
          <p:nvPr/>
        </p:nvSpPr>
        <p:spPr>
          <a:xfrm>
            <a:off x="3079289" y="5443940"/>
            <a:ext cx="829524" cy="82952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9B1C7E13-D457-1B7F-F1CD-F34EA08E6F9D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1DDD56B7-8391-EF62-E033-6E036BD79D7D}"/>
              </a:ext>
            </a:extLst>
          </p:cNvPr>
          <p:cNvSpPr txBox="1"/>
          <p:nvPr/>
        </p:nvSpPr>
        <p:spPr>
          <a:xfrm>
            <a:off x="4797486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2026 1Q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18E61766-8621-9612-3BC6-B7F7FC20419A}"/>
              </a:ext>
            </a:extLst>
          </p:cNvPr>
          <p:cNvGrpSpPr/>
          <p:nvPr/>
        </p:nvGrpSpPr>
        <p:grpSpPr>
          <a:xfrm>
            <a:off x="4647156" y="2527791"/>
            <a:ext cx="2091340" cy="2646286"/>
            <a:chOff x="3017861" y="4222351"/>
            <a:chExt cx="1917633" cy="2646286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A734D83A-ED8D-E767-00FE-D01EAD2653E6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Project Diving </a:t>
              </a:r>
              <a:r>
                <a:rPr lang="ko-KR" altLang="en-US" sz="800" b="1">
                  <a:cs typeface="Arial" pitchFamily="34" charset="0"/>
                </a:rPr>
                <a:t>결과 고도화 및 논문화</a:t>
              </a:r>
              <a:endParaRPr lang="en-US" altLang="ko-KR" sz="800" b="1">
                <a:cs typeface="Arial" pitchFamily="34" charset="0"/>
              </a:endParaRPr>
            </a:p>
            <a:p>
              <a:pPr marL="228600" indent="-228600" algn="ctr">
                <a:buAutoNum type="arabicParenBoth"/>
              </a:pPr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본인 진로 기반 출시 예상 공모전 미리 분석 및 고도화</a:t>
              </a:r>
              <a:endParaRPr lang="en-US" altLang="ko-KR" sz="800" b="1">
                <a:cs typeface="Arial" pitchFamily="34" charset="0"/>
              </a:endParaRPr>
            </a:p>
            <a:p>
              <a:pPr marL="228600" indent="-228600" algn="ctr">
                <a:buAutoNum type="arabicParenBoth"/>
              </a:pPr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본인 진로 기반 논문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특허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창업 제안을 위한 분석 및 고도화 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(4)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D01706C5-6A05-600B-DDF9-899DA3D9CFB8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3" name="타원 712">
            <a:extLst>
              <a:ext uri="{FF2B5EF4-FFF2-40B4-BE49-F238E27FC236}">
                <a16:creationId xmlns:a16="http://schemas.microsoft.com/office/drawing/2014/main" id="{0F3A81DB-4321-5266-6868-CE03F3340978}"/>
              </a:ext>
            </a:extLst>
          </p:cNvPr>
          <p:cNvSpPr/>
          <p:nvPr/>
        </p:nvSpPr>
        <p:spPr>
          <a:xfrm>
            <a:off x="5278063" y="5443940"/>
            <a:ext cx="829524" cy="82952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4" name="Rectangle 36">
            <a:extLst>
              <a:ext uri="{FF2B5EF4-FFF2-40B4-BE49-F238E27FC236}">
                <a16:creationId xmlns:a16="http://schemas.microsoft.com/office/drawing/2014/main" id="{F68546E3-6B24-2499-6C00-2DF4365ECE5C}"/>
              </a:ext>
            </a:extLst>
          </p:cNvPr>
          <p:cNvSpPr/>
          <p:nvPr/>
        </p:nvSpPr>
        <p:spPr>
          <a:xfrm>
            <a:off x="5499323" y="5694305"/>
            <a:ext cx="387004" cy="32350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ECFBE4F0-EC3E-6F16-F64F-43BD023AE1D0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83739127-94D2-22D2-9106-03E61D838B83}"/>
              </a:ext>
            </a:extLst>
          </p:cNvPr>
          <p:cNvSpPr txBox="1"/>
          <p:nvPr/>
        </p:nvSpPr>
        <p:spPr>
          <a:xfrm>
            <a:off x="7014592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2026 2Q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0556E8C5-CB30-F4EA-B207-DECF24D2D35C}"/>
              </a:ext>
            </a:extLst>
          </p:cNvPr>
          <p:cNvGrpSpPr/>
          <p:nvPr/>
        </p:nvGrpSpPr>
        <p:grpSpPr>
          <a:xfrm>
            <a:off x="6864262" y="2527791"/>
            <a:ext cx="2091340" cy="2153844"/>
            <a:chOff x="3017861" y="4222351"/>
            <a:chExt cx="1917633" cy="215384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AAA93F93-8A5A-48A1-F155-39AD2576141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 </a:t>
              </a:r>
              <a:r>
                <a:rPr lang="en-US" altLang="ko-KR" sz="800" b="1" u="sng">
                  <a:cs typeface="Arial" pitchFamily="34" charset="0"/>
                </a:rPr>
                <a:t>&amp; </a:t>
              </a:r>
              <a:r>
                <a:rPr lang="ko-KR" altLang="en-US" sz="800" b="1" u="sng">
                  <a:cs typeface="Arial" pitchFamily="34" charset="0"/>
                </a:rPr>
                <a:t>인공지능의사결정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증명을 위해 집중</a:t>
              </a:r>
              <a:r>
                <a:rPr lang="en-US" altLang="ko-KR" sz="800" b="1">
                  <a:cs typeface="Arial" pitchFamily="34" charset="0"/>
                </a:rPr>
                <a:t>!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본인 진로 기반 공모전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논문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특허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창업 산출물 완성 및 추가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DB473F7B-2171-1E9B-957A-64A6E5ABCC35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sp>
        <p:nvSpPr>
          <p:cNvPr id="721" name="타원 720">
            <a:extLst>
              <a:ext uri="{FF2B5EF4-FFF2-40B4-BE49-F238E27FC236}">
                <a16:creationId xmlns:a16="http://schemas.microsoft.com/office/drawing/2014/main" id="{CCA116E3-0D72-9842-C3A3-7C040FA06FE9}"/>
              </a:ext>
            </a:extLst>
          </p:cNvPr>
          <p:cNvSpPr/>
          <p:nvPr/>
        </p:nvSpPr>
        <p:spPr>
          <a:xfrm>
            <a:off x="7495169" y="5443940"/>
            <a:ext cx="829524" cy="829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6" name="Rounded Rectangle 32">
            <a:extLst>
              <a:ext uri="{FF2B5EF4-FFF2-40B4-BE49-F238E27FC236}">
                <a16:creationId xmlns:a16="http://schemas.microsoft.com/office/drawing/2014/main" id="{7E2E2D30-A1EC-4135-3C0D-2755EF23EB64}"/>
              </a:ext>
            </a:extLst>
          </p:cNvPr>
          <p:cNvSpPr/>
          <p:nvPr/>
        </p:nvSpPr>
        <p:spPr>
          <a:xfrm>
            <a:off x="3327546" y="5694305"/>
            <a:ext cx="333009" cy="33300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27" name="Rectangle 9">
            <a:extLst>
              <a:ext uri="{FF2B5EF4-FFF2-40B4-BE49-F238E27FC236}">
                <a16:creationId xmlns:a16="http://schemas.microsoft.com/office/drawing/2014/main" id="{5517A6E2-2DA2-583B-9F6D-1B2704133DA2}"/>
              </a:ext>
            </a:extLst>
          </p:cNvPr>
          <p:cNvSpPr/>
          <p:nvPr/>
        </p:nvSpPr>
        <p:spPr>
          <a:xfrm>
            <a:off x="1106918" y="5694305"/>
            <a:ext cx="340053" cy="31832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28" name="Round Same Side Corner Rectangle 11">
            <a:extLst>
              <a:ext uri="{FF2B5EF4-FFF2-40B4-BE49-F238E27FC236}">
                <a16:creationId xmlns:a16="http://schemas.microsoft.com/office/drawing/2014/main" id="{843C49A9-6996-87E2-26FD-53BB37E7878E}"/>
              </a:ext>
            </a:extLst>
          </p:cNvPr>
          <p:cNvSpPr>
            <a:spLocks noChangeAspect="1"/>
          </p:cNvSpPr>
          <p:nvPr/>
        </p:nvSpPr>
        <p:spPr>
          <a:xfrm rot="9900000">
            <a:off x="7731820" y="5709536"/>
            <a:ext cx="356223" cy="30254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640C335D-6A97-088E-7E3C-62F0D4FAB249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49FFEE26-86A3-F106-6980-99078C0877D7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4D49FC0B-0E1B-4114-263D-2188D170C1D0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EC07AA73-8CF4-F821-D7BF-E7DE7DCD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8BFDE12B-E9C1-870D-F9F2-0962FDE1FD5E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AB8AF68A-5E89-30E3-E790-A5CE7C4139E1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065B86-9152-D394-5604-DB9BE90DD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46AA2263-11A2-5CA4-720F-7FBD2E9EC014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42F04555-F346-F85D-7F51-92842D372BE1}"/>
              </a:ext>
            </a:extLst>
          </p:cNvPr>
          <p:cNvSpPr txBox="1"/>
          <p:nvPr/>
        </p:nvSpPr>
        <p:spPr>
          <a:xfrm>
            <a:off x="38160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3Q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(7~8M)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75EB9B93-BB38-F4DA-68E3-9F14FB9393C2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6B4DB158-0EA2-D061-594B-B28E5FD1A0D5}"/>
              </a:ext>
            </a:extLst>
          </p:cNvPr>
          <p:cNvGrpSpPr/>
          <p:nvPr/>
        </p:nvGrpSpPr>
        <p:grpSpPr>
          <a:xfrm>
            <a:off x="231276" y="2527791"/>
            <a:ext cx="2091340" cy="2892507"/>
            <a:chOff x="3017861" y="4222351"/>
            <a:chExt cx="1917633" cy="2892507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3146DF71-00E7-3742-C99F-5EE07B180A31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Data-driven AI Decision Making]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디비애 과제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고도화</a:t>
              </a:r>
              <a:r>
                <a:rPr lang="en-US" altLang="ko-KR" sz="800" b="1">
                  <a:cs typeface="Arial" pitchFamily="34" charset="0"/>
                </a:rPr>
                <a:t>(ML+DL)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  <a:endParaRPr lang="en-US" altLang="ko-KR" sz="800" b="1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시계열 및 텍스트 기반 </a:t>
              </a:r>
              <a:r>
                <a:rPr lang="en-US" altLang="ko-KR" sz="800" b="1">
                  <a:cs typeface="Arial" pitchFamily="34" charset="0"/>
                </a:rPr>
                <a:t>AI </a:t>
              </a:r>
              <a:r>
                <a:rPr lang="ko-KR" altLang="en-US" sz="800" b="1">
                  <a:cs typeface="Arial" pitchFamily="34" charset="0"/>
                </a:rPr>
                <a:t>의사결정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 b="1">
                  <a:cs typeface="Arial" pitchFamily="34" charset="0"/>
                </a:rPr>
                <a:t>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56FB0413-6CDE-0BB7-03E7-8CC722A6ADD1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41956D5F-83F6-BB88-B0DB-EEE2D9F12232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7EA36589-2683-7C04-C93C-D5A775E7AAB8}"/>
              </a:ext>
            </a:extLst>
          </p:cNvPr>
          <p:cNvSpPr txBox="1"/>
          <p:nvPr/>
        </p:nvSpPr>
        <p:spPr>
          <a:xfrm>
            <a:off x="259871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2025 4Q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(9~12M)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359A7558-4A8F-E46F-9381-59B39FDA85EA}"/>
              </a:ext>
            </a:extLst>
          </p:cNvPr>
          <p:cNvGrpSpPr/>
          <p:nvPr/>
        </p:nvGrpSpPr>
        <p:grpSpPr>
          <a:xfrm>
            <a:off x="2448382" y="2527791"/>
            <a:ext cx="2091340" cy="2892507"/>
            <a:chOff x="3017861" y="4222351"/>
            <a:chExt cx="1917633" cy="289250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A7E91FC0-6CBC-8CBF-3816-C721318A3D99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AI as a Service]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Data Engineering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Data Merge + ML/DL + SHAP</a:t>
              </a:r>
              <a:endParaRPr lang="ko-KR" altLang="en-US" sz="800">
                <a:cs typeface="Arial" pitchFamily="34" charset="0"/>
              </a:endParaRPr>
            </a:p>
            <a:p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Forecasting with</a:t>
              </a:r>
              <a:r>
                <a:rPr lang="ko-KR" altLang="en-US" sz="800" b="1">
                  <a:cs typeface="Arial" pitchFamily="34" charset="0"/>
                </a:rPr>
                <a:t> </a:t>
              </a:r>
              <a:r>
                <a:rPr lang="en-US" altLang="ko-KR" sz="800" b="1">
                  <a:cs typeface="Arial" pitchFamily="34" charset="0"/>
                </a:rPr>
                <a:t>AI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자동화</a:t>
              </a:r>
              <a:r>
                <a:rPr lang="en-US" altLang="ko-KR" sz="800">
                  <a:cs typeface="Arial" pitchFamily="34" charset="0"/>
                </a:rPr>
                <a:t>: Text Mining + ML/DL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A25EB800-5657-72DE-F6FC-7488847AA3C4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431FDFAC-9B93-C1AD-C930-A7B00848EA99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C25BE077-11B2-D10B-BEA7-07EF1F291D37}"/>
              </a:ext>
            </a:extLst>
          </p:cNvPr>
          <p:cNvSpPr txBox="1"/>
          <p:nvPr/>
        </p:nvSpPr>
        <p:spPr>
          <a:xfrm>
            <a:off x="4797486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1Q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(1~2M)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B84B2EF3-1323-3BD4-235C-1D5EEC0E72DE}"/>
              </a:ext>
            </a:extLst>
          </p:cNvPr>
          <p:cNvGrpSpPr/>
          <p:nvPr/>
        </p:nvGrpSpPr>
        <p:grpSpPr>
          <a:xfrm>
            <a:off x="4647156" y="2527791"/>
            <a:ext cx="2091340" cy="2276954"/>
            <a:chOff x="3017861" y="4222351"/>
            <a:chExt cx="1917633" cy="2276954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04610316-B86B-F727-DB3D-82CCFAD74955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전문가 방향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기업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사회 주요 문제</a:t>
              </a:r>
              <a:r>
                <a:rPr lang="en-US" altLang="ko-KR" sz="800">
                  <a:cs typeface="Arial" pitchFamily="34" charset="0"/>
                </a:rPr>
                <a:t>(</a:t>
              </a:r>
              <a:r>
                <a:rPr lang="ko-KR" altLang="en-US" sz="800">
                  <a:cs typeface="Arial" pitchFamily="34" charset="0"/>
                </a:rPr>
                <a:t>공모전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논문 등</a:t>
              </a:r>
              <a:r>
                <a:rPr lang="en-US" altLang="ko-KR" sz="800">
                  <a:cs typeface="Arial" pitchFamily="34" charset="0"/>
                </a:rPr>
                <a:t>)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본인 진로 방향 교집합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문제의 가설 변환</a:t>
              </a:r>
              <a:endParaRPr lang="en-US" altLang="ko-KR" sz="800">
                <a:cs typeface="Arial" pitchFamily="34" charset="0"/>
              </a:endParaRPr>
            </a:p>
            <a:p>
              <a:pPr marL="228600" indent="-228600">
                <a:buAutoNum type="arabicParenBoth"/>
              </a:pPr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데이터</a:t>
              </a:r>
              <a:r>
                <a:rPr lang="en-US" altLang="ko-KR" sz="800" b="1">
                  <a:cs typeface="Arial" pitchFamily="34" charset="0"/>
                </a:rPr>
                <a:t> </a:t>
              </a:r>
              <a:r>
                <a:rPr lang="ko-KR" altLang="en-US" sz="800" b="1">
                  <a:cs typeface="Arial" pitchFamily="34" charset="0"/>
                </a:rPr>
                <a:t>해결 전략 설정</a:t>
              </a:r>
              <a:r>
                <a:rPr lang="en-US" altLang="ko-KR" sz="800" b="1">
                  <a:cs typeface="Arial" pitchFamily="34" charset="0"/>
                </a:rPr>
                <a:t>: </a:t>
              </a: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가설의 데이터 문제로 변환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altLang="ko-KR" sz="800">
                  <a:cs typeface="Arial" pitchFamily="34" charset="0"/>
                </a:rPr>
                <a:t>AI as a Service </a:t>
              </a:r>
              <a:r>
                <a:rPr lang="ko-KR" altLang="en-US" sz="800">
                  <a:cs typeface="Arial" pitchFamily="34" charset="0"/>
                </a:rPr>
                <a:t>적용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02F5803E-657D-7AFA-00EC-EDD4F1768FC0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A6184BB1-44B5-5D7B-846F-0D2098CF4F25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6906C51A-D829-F0F9-5AF9-789C686C04A1}"/>
              </a:ext>
            </a:extLst>
          </p:cNvPr>
          <p:cNvSpPr txBox="1"/>
          <p:nvPr/>
        </p:nvSpPr>
        <p:spPr>
          <a:xfrm>
            <a:off x="7014592" y="1628864"/>
            <a:ext cx="177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2026 2Q</a:t>
            </a:r>
          </a:p>
          <a:p>
            <a:pPr algn="ctr"/>
            <a:r>
              <a:rPr lang="en-US" altLang="ko-KR" sz="1800" b="1">
                <a:solidFill>
                  <a:schemeClr val="bg1"/>
                </a:solidFill>
              </a:rPr>
              <a:t>(3~6M)</a:t>
            </a:r>
            <a:endParaRPr lang="ko-KR" altLang="en-US" sz="18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FE140407-AE53-3C02-6F17-4ACEA9256DCB}"/>
              </a:ext>
            </a:extLst>
          </p:cNvPr>
          <p:cNvGrpSpPr/>
          <p:nvPr/>
        </p:nvGrpSpPr>
        <p:grpSpPr>
          <a:xfrm>
            <a:off x="6864262" y="2527791"/>
            <a:ext cx="2091340" cy="2276954"/>
            <a:chOff x="3017861" y="4222351"/>
            <a:chExt cx="1917633" cy="227695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BB316F6F-017B-6C38-CB44-223D6376D835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확장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 집중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공모전 수상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논문 발행 전략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특허</a:t>
              </a:r>
              <a:r>
                <a:rPr lang="en-US" altLang="ko-KR" sz="800">
                  <a:cs typeface="Arial" pitchFamily="34" charset="0"/>
                </a:rPr>
                <a:t>/</a:t>
              </a:r>
              <a:r>
                <a:rPr lang="ko-KR" altLang="en-US" sz="800">
                  <a:cs typeface="Arial" pitchFamily="34" charset="0"/>
                </a:rPr>
                <a:t>창업 계획 전략</a:t>
              </a:r>
              <a:endParaRPr lang="en-US" altLang="ko-KR" sz="800">
                <a:cs typeface="Arial" pitchFamily="34" charset="0"/>
              </a:endParaRPr>
            </a:p>
            <a:p>
              <a:endParaRPr lang="en-US" altLang="ko-KR" sz="800">
                <a:cs typeface="Arial" pitchFamily="34" charset="0"/>
              </a:endParaRPr>
            </a:p>
            <a:p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적극적 브랜딩 피드백</a:t>
              </a:r>
              <a:endParaRPr lang="en-US" altLang="ko-KR" sz="800" b="1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인공지능기반의사결정 학점화</a:t>
              </a:r>
              <a:endParaRPr lang="en-US" altLang="ko-KR" sz="800">
                <a:cs typeface="Arial" pitchFamily="34" charset="0"/>
              </a:endParaRPr>
            </a:p>
            <a:p>
              <a:pPr marL="171450" indent="-171450">
                <a:buFontTx/>
                <a:buChar char="-"/>
              </a:pPr>
              <a:r>
                <a:rPr lang="ko-KR" altLang="en-US" sz="800">
                  <a:cs typeface="Arial" pitchFamily="34" charset="0"/>
                </a:rPr>
                <a:t>산출물 완성 및 전문가 포트폴리오화</a:t>
              </a:r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89A0B943-5BF4-6283-A649-D39F8AE62EDC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12A1AABD-A483-9CC2-F3A2-1798C9033419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6A9E3670-BB05-83F8-D299-851B591F3F7B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E539D99E-0216-5888-8D68-C00527F9F540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534;p39">
            <a:extLst>
              <a:ext uri="{FF2B5EF4-FFF2-40B4-BE49-F238E27FC236}">
                <a16:creationId xmlns:a16="http://schemas.microsoft.com/office/drawing/2014/main" id="{CD14EFDB-FEB3-D363-8AF9-B8CC0E05BC5F}"/>
              </a:ext>
            </a:extLst>
          </p:cNvPr>
          <p:cNvSpPr txBox="1"/>
          <p:nvPr/>
        </p:nvSpPr>
        <p:spPr>
          <a:xfrm>
            <a:off x="594703" y="5581671"/>
            <a:ext cx="7954483" cy="475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* </a:t>
            </a:r>
            <a:r>
              <a:rPr lang="ko-KR" altLang="en-US" sz="1600" b="1" i="0" u="sng" strike="noStrike" cap="none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기존 기수들은 </a:t>
            </a:r>
            <a:r>
              <a:rPr lang="en-US" altLang="ko-KR" sz="1600" b="1" i="0" u="sng" strike="noStrike" cap="none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</a:t>
            </a:r>
            <a:r>
              <a:rPr lang="ko-KR" altLang="en-US" sz="1600" b="1" i="0" u="sng" strike="noStrike" cap="none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분기씩 선행하여 진행 </a:t>
            </a:r>
            <a:r>
              <a:rPr lang="en-US" altLang="ko-KR" sz="1600" b="1" i="0" u="sng" strike="noStrike" cap="none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(3Q: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AI</a:t>
            </a:r>
            <a:r>
              <a:rPr lang="ko-KR" altLang="en-US" sz="1600" b="1" u="sng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as</a:t>
            </a:r>
            <a:r>
              <a:rPr lang="ko-KR" altLang="en-US" sz="1600" b="1" u="sng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 Service </a:t>
            </a:r>
            <a:r>
              <a:rPr lang="en-US" altLang="ko-KR" sz="1600" b="1" u="sng">
                <a:solidFill>
                  <a:srgbClr val="FF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Wingdings" panose="05000000000000000000" pitchFamily="2" charset="2"/>
              </a:rPr>
              <a:t> 4Q~: Brand Diving) *</a:t>
            </a:r>
            <a:endParaRPr sz="1600" u="sng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07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2C3A2FB4-D7F1-DF0C-8BF2-4C9BCA35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076B17AA-E937-F55C-6C2C-6B65E3D8E10C}"/>
              </a:ext>
            </a:extLst>
          </p:cNvPr>
          <p:cNvSpPr txBox="1"/>
          <p:nvPr/>
        </p:nvSpPr>
        <p:spPr>
          <a:xfrm>
            <a:off x="4655529" y="2300797"/>
            <a:ext cx="4125217" cy="243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배경지식과 용어 지식화를 위한 필수내용 요약 소개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https://github.com/thekimk/Tutorial-Probability-Statistics-Algorithm-DataScience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https://www.youtube.com/playlist?list=PLYP0LH6y1TM4DOvCt0BhJhxXjCniU4-_A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관련 수학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개론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데이터분석에 필요한 지식은 수학과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통계학과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산업공학과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컴퓨터공학과 등 에서 매우 일부분이기 때문에 관련 교과목 미수강시 본 영상으로 필요내용만 빠르게 정리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FE7F8EAC-BD31-A85E-0C71-76CBDEF05DB9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F587D563-F5F6-3D4E-9489-7778FEBCD607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(PREREQUISITES)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8633FAD7-6280-CA7F-92B9-FC836BAB3F55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4E98DC28-46C2-7B79-B179-BE21F052791D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Tool | Python Programming Tutorial</a:t>
            </a:r>
            <a:endParaRPr lang="en-US" altLang="ko-KR"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4094AB5F-724C-BB87-1B4A-3FF259D58B15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D26E273D-7050-5E18-3C83-595A20BF12A3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Prerequisites | What is Required to Become a Data Scientist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9C9E40-0491-DBA1-089A-F6D8D99B4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EFE624B8-920D-7DF2-74DF-4ABC4CF6737D}"/>
              </a:ext>
            </a:extLst>
          </p:cNvPr>
          <p:cNvSpPr txBox="1"/>
          <p:nvPr/>
        </p:nvSpPr>
        <p:spPr>
          <a:xfrm>
            <a:off x="370982" y="2300797"/>
            <a:ext cx="4117490" cy="239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도구 파이썬 사용법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https://github.com/thekimk/Tutorial-Python-Programming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요약본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https://www.youtube.com/playlist?list=PLYP0LH6y1TM4P3HMNM3JQ8MFx8z6nLo9O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https://www.youtube.com/playlist?list=PLYP0LH6y1TM6H3o82V-vDqQ7DbiRLJf4J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비즈니스데이터사이언스의이해 또는 파이썬 프로그래밍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사용법 잊은 경우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필요한 부분만 선택적 수강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174405D2-28AD-37A2-6CA5-AB88B9C15988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7DB30250-B249-69EB-7590-A0B64C9A769B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66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68B5C21B-C041-D4B9-3418-573ABF55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3AA4CD3D-0AF1-A51C-CB30-745F3DE1C9F6}"/>
              </a:ext>
            </a:extLst>
          </p:cNvPr>
          <p:cNvSpPr txBox="1"/>
          <p:nvPr/>
        </p:nvSpPr>
        <p:spPr>
          <a:xfrm>
            <a:off x="4655529" y="2300797"/>
            <a:ext cx="4125217" cy="209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 알고리즘 이해 및 데이터분석 성능 고도화 시작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https://github.com/thekimk/All-About-Machine-Learning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https://www.youtube.com/playlist?list=PLYP0LH6y1TM6Khh6_ydAPoC9Fj4H_Vp-G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또는 머신러닝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프로세스 단계 스스로 완성할 줄 알고나서 수강 추천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강의에 포함되지 않은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알고리즘을 통한 설명력 실습은 강의외 스스로 습득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8C711457-986B-769B-2FD3-51AC01C57BFE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A45D06D7-2FC6-9DA4-5490-F4DA235D35D3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(BASIC)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71914DEF-E855-1595-B027-C5AB3596A16A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D9494BB2-79C2-2173-C5A5-F4A4F9E74C22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Process | Why You Should Ask The Real Business Question?</a:t>
            </a:r>
            <a:endParaRPr lang="en-US" altLang="ko-KR"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6E411A05-34B6-79CE-1FA3-AA26DC53B11D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728BEA6F-526C-0C05-BB08-7CD2715C8658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Algorithms | What are Machine Learning Algorithms for AI Engines?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C21D66-8432-0CEE-FB96-3CE1D1B8E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69543C70-2567-FA81-4203-F6FC7E9E5626}"/>
              </a:ext>
            </a:extLst>
          </p:cNvPr>
          <p:cNvSpPr txBox="1"/>
          <p:nvPr/>
        </p:nvSpPr>
        <p:spPr>
          <a:xfrm>
            <a:off x="370982" y="2300797"/>
            <a:ext cx="4117490" cy="224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프로세스 단계 완성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https://github.com/thekimk/All-About-Machine-Learning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https://www.youtube.com/playlist?list=PLYP0LH6y1TM50-9XqZfI2bbIOXCxYLauH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또는 기초데이터분석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알고리즘보다 전체적인 데이터분석 프로세스를 완성하는 것이 목표이므로 끝까지 달려 완성하는 실습이 매우 중요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!!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프로세스 완성도 스스로 하지 못하면서 알고리즘 아무리 배워도 써먹지 못함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2765C78-0726-73B6-EAC2-3E30C96C91F1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AF29324-B00B-F3ED-8411-CADA487EC836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FFE3BCA-23F5-9392-B79A-A6C5C68921D4}"/>
              </a:ext>
            </a:extLst>
          </p:cNvPr>
          <p:cNvSpPr/>
          <p:nvPr/>
        </p:nvSpPr>
        <p:spPr>
          <a:xfrm>
            <a:off x="370981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B921964-1A95-F318-48E0-7A096BF61BAF}"/>
              </a:ext>
            </a:extLst>
          </p:cNvPr>
          <p:cNvSpPr/>
          <p:nvPr/>
        </p:nvSpPr>
        <p:spPr>
          <a:xfrm>
            <a:off x="7418939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</p:spTree>
    <p:extLst>
      <p:ext uri="{BB962C8B-B14F-4D97-AF65-F5344CB8AC3E}">
        <p14:creationId xmlns:p14="http://schemas.microsoft.com/office/powerpoint/2010/main" val="298839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7E4102F5-2496-0D19-D0B9-126D8590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A1A07AB1-C7A7-EA49-2872-B419C5CEFF2A}"/>
              </a:ext>
            </a:extLst>
          </p:cNvPr>
          <p:cNvSpPr txBox="1"/>
          <p:nvPr/>
        </p:nvSpPr>
        <p:spPr>
          <a:xfrm>
            <a:off x="4655529" y="2300797"/>
            <a:ext cx="4125217" cy="253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알고리즘 이해 및 데이터분석 성능 고도화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https://github.com/thekimk/All-About-Deep-Learning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https://youtube.com/playlist?list=PLYP0LH6y1TM6s-bdE1Og3U6_SnV6CsqwJ&amp;si=o1BDtamwTK9are_e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인공지능기반의사결정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또는 딥러닝 등 </a:t>
            </a: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수강시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미필요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최소 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altLang="ko-KR" sz="800" b="1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Science Algorithms | What are Machine Learning Algorithms for AI Engines?”</a:t>
            </a: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스스로 완성 및 충분히 익숙해진 후 수강 추천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시간데이터 처리가 포함되므로 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altLang="ko-KR" sz="800" b="1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Science Process + Algorithms | How Do We Solve the Time Dependency Problem?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수강 후 학습해야 끝까지 달리기 용이함</a:t>
            </a:r>
            <a:endParaRPr lang="en-US" altLang="ko-KR" sz="500" dirty="0">
              <a:solidFill>
                <a:schemeClr val="tx2">
                  <a:lumMod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6CD80869-4EB3-CBB6-CE4A-1872A3DA1027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01321049-A43E-D94D-0075-20EFCB5C896D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(ADVANCED)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B45AC09A-47DF-ABF1-B692-57A3C81248EE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2ABE44CB-7466-4322-ED02-C13E281BEFDA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| How Do We Solve the Time Dependency Problem?</a:t>
            </a:r>
            <a:endParaRPr lang="en-US" altLang="ko-KR" sz="12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6567846B-EE6A-266C-C06E-60901E18F28E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C80324B1-0C31-2F23-02C5-3C477093C7B5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| What are Deep Learning Algorithms for AI Engines?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36C33B-3D13-9517-6345-233CC2B24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651C8841-E303-7C44-038F-92F15589885C}"/>
              </a:ext>
            </a:extLst>
          </p:cNvPr>
          <p:cNvSpPr txBox="1"/>
          <p:nvPr/>
        </p:nvSpPr>
        <p:spPr>
          <a:xfrm>
            <a:off x="370982" y="2300797"/>
            <a:ext cx="4117490" cy="224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시간의존 문제 해결을 위한 데이터분석 프로세스 단계 완성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https://github.com/thekimk/All-About-Time-Series-Analysis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https://www.youtube.com/playlist?list=PLYP0LH6y1TM77hdoLW5W5IdvQpk20UK5W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비즈니스수요예측 또는 시계열분석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시간의존 데이터처리를 위한 데이터분석 프로세스를 완성과 관련 알고리즘을 동시에 다루기 때문에 끝까지 달려 실습을 완성하지 못하면 시간데이터 다루지 못함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매년 진행되는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유통데이터 활용 경진대회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미리 준비 후 수상시 전문가 증빙 추천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F16AF9E-B382-610C-40D2-F590972DD453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5D21C9B4-B3C0-9B59-CD98-DAE111E774E5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17F0EAB-2C14-9BC0-6AA1-BA6DF06E07A9}"/>
              </a:ext>
            </a:extLst>
          </p:cNvPr>
          <p:cNvSpPr/>
          <p:nvPr/>
        </p:nvSpPr>
        <p:spPr>
          <a:xfrm>
            <a:off x="7418939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</p:spTree>
    <p:extLst>
      <p:ext uri="{BB962C8B-B14F-4D97-AF65-F5344CB8AC3E}">
        <p14:creationId xmlns:p14="http://schemas.microsoft.com/office/powerpoint/2010/main" val="172385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4B86F084-A60B-D00A-83D3-13FF3105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3324F300-B896-0689-4ED6-4CFC9A626B5F}"/>
              </a:ext>
            </a:extLst>
          </p:cNvPr>
          <p:cNvSpPr txBox="1"/>
          <p:nvPr/>
        </p:nvSpPr>
        <p:spPr>
          <a:xfrm>
            <a:off x="4655529" y="2300797"/>
            <a:ext cx="4125217" cy="248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애널리틱스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수요를 정확하게 예측해볼까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 및 텍스트 형태로 구성된 경제지표와 뉴스데이터 융합을 통한 미래예측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데이터결합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시계열정보추출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텍스트정보추출</a:t>
            </a:r>
            <a:endParaRPr lang="en-US" altLang="ko-KR" sz="105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https://github.com/thekimk/Lecture-NIA/tree/main/Data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데이터결합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수요데이터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(df_KTX_monthsum_example_KK)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경제지표 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(ECON &amp; KOSIS)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시계열정보추출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시간 정보에서 추출할 수 있는 주말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주중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공휴일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대체공휴일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명절 등 추출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뉴스데이터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크롤링 또는 빅카인즈에서 뉴스데이터 추출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(NewsResult_20150101-20250331_KTX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코레일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.xlsx) 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(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검색어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KTX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코레일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15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~25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 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언론사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전국일간지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경제일간지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방송사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전문지 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통합분류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텍스트정보추출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 빈도별 뉴스 트래픽 및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감성분석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필요시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ko-KR" altLang="en-US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신규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독립변수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 없는 미래 기간의 수요 예측</a:t>
            </a:r>
            <a:endParaRPr lang="en-US" altLang="ko-KR"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30C7D7A2-A15F-EA79-05C8-688F62D604E1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EAF01631-C050-3EC7-C11E-17E04E39A120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Project Diving</a:t>
            </a:r>
          </a:p>
          <a:p>
            <a:pPr algn="ctr"/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https://github.com/thekimk/Lecture-NIA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참고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altLang="ko-KR" sz="12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073D5AA6-4886-CC39-97D8-2818FF66C61C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5FA56E53-AA9A-1248-BE2B-C9868AACA5E5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Classification</a:t>
            </a:r>
            <a:endParaRPr lang="en-US" altLang="ko-KR" sz="18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9363C759-ECE5-BF81-2107-57D18D854147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56F73D3C-E1A4-5566-9A6B-A38588302CAB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Regression</a:t>
            </a:r>
            <a:endParaRPr sz="18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71ACDD-9352-ECA5-7E26-4F0CBD3B2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4494053A-85F6-EEB5-8C3F-D1CF6C70B62D}"/>
              </a:ext>
            </a:extLst>
          </p:cNvPr>
          <p:cNvSpPr txBox="1"/>
          <p:nvPr/>
        </p:nvSpPr>
        <p:spPr>
          <a:xfrm>
            <a:off x="370982" y="2300797"/>
            <a:ext cx="4117490" cy="302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애널리틱스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누구에게 마케팅을 해야할 것인가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설명가능한 인공지능을 활용한 추천과 근거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샘플 데이터로 분석프로세스 완성</a:t>
            </a:r>
            <a:endParaRPr lang="en-US" altLang="ko-KR" sz="10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샘플 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숫자 설문조사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https://github.com/thekimk/Lecture-NIA/blob/main/Data/df_concat_BA1.csv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종속변수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기부여부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Logistic Regression, Random Forest, XGBoost, LightGBM, CatBoost, MLP, CNN 7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SHAP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개인설명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의존성</a:t>
            </a:r>
            <a:endParaRPr lang="en-US" altLang="ko-KR"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실제 데이터로 분석 프로세스 완성</a:t>
            </a:r>
            <a:endParaRPr lang="en-US" altLang="ko-KR" sz="10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 데이터 논리적 결합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https://mdis.kostat.go.kr/dwnlSvc/ofrSurvSearch.do?curMenuNo=UI_POR_P9240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사회일반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사회조사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복지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사회참여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문화와여가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소득과소비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노동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2021~2023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Logistic Regression, Random Forest, XGBoost, LightGBM, CatBoost, MLP, CNN 7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SHAP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개인설명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의존성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업데이트</a:t>
            </a:r>
            <a:endParaRPr lang="en-US" altLang="ko-KR"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넘어서기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0FC8D22-DA8C-6ACA-09B5-FD62BAB22402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2D6D092-985B-606C-44C8-1F0125387B0A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BC64A8-69E2-43C4-9936-09AEAF872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47"/>
          <a:stretch>
            <a:fillRect/>
          </a:stretch>
        </p:blipFill>
        <p:spPr bwMode="auto">
          <a:xfrm>
            <a:off x="525036" y="4884519"/>
            <a:ext cx="3809381" cy="11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33F3FAE-FC26-6BA1-207D-540B643907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98"/>
          <a:stretch>
            <a:fillRect/>
          </a:stretch>
        </p:blipFill>
        <p:spPr bwMode="auto">
          <a:xfrm>
            <a:off x="5675734" y="4708280"/>
            <a:ext cx="2084809" cy="131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4046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11">
      <a:dk1>
        <a:srgbClr val="2C2D2F"/>
      </a:dk1>
      <a:lt1>
        <a:srgbClr val="FFFFFF"/>
      </a:lt1>
      <a:dk2>
        <a:srgbClr val="61626A"/>
      </a:dk2>
      <a:lt2>
        <a:srgbClr val="DEDEDE"/>
      </a:lt2>
      <a:accent1>
        <a:srgbClr val="044EA2"/>
      </a:accent1>
      <a:accent2>
        <a:srgbClr val="95BFED"/>
      </a:accent2>
      <a:accent3>
        <a:srgbClr val="424243"/>
      </a:accent3>
      <a:accent4>
        <a:srgbClr val="E1EDEE"/>
      </a:accent4>
      <a:accent5>
        <a:srgbClr val="044EA2"/>
      </a:accent5>
      <a:accent6>
        <a:srgbClr val="B3CEDD"/>
      </a:accent6>
      <a:hlink>
        <a:srgbClr val="044EA2"/>
      </a:hlink>
      <a:folHlink>
        <a:srgbClr val="0D2ECA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9588</TotalTime>
  <Words>1927</Words>
  <Application>Microsoft Office PowerPoint</Application>
  <PresentationFormat>화면 슬라이드 쇼(4:3)</PresentationFormat>
  <Paragraphs>306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Noto Sans Symbols</vt:lpstr>
      <vt:lpstr>Malgun Gothic</vt:lpstr>
      <vt:lpstr>Arial</vt:lpstr>
      <vt:lpstr>Calibri</vt:lpstr>
      <vt:lpstr>Cambria Math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사용자</dc:creator>
  <cp:lastModifiedBy>Kyungwon Kim</cp:lastModifiedBy>
  <cp:revision>1481</cp:revision>
  <dcterms:created xsi:type="dcterms:W3CDTF">2017-08-28T02:36:56Z</dcterms:created>
  <dcterms:modified xsi:type="dcterms:W3CDTF">2026-04-16T13:24:07Z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88E2CA7DA740E51D625C323DD66B4F4206A6C78A74461D15BF48BA2B48BF78F3</vt:lpwstr>
  </property>
  <property fmtid="{D5CDD505-2E9C-101B-9397-08002B2CF9AE}" pid="2" name="NSCPROP">
    <vt:lpwstr>NSCCustomProperty</vt:lpwstr>
  </property>
  <property fmtid="{D5CDD505-2E9C-101B-9397-08002B2CF9AE}" pid="3" name="ContentTypeId">
    <vt:lpwstr>0x010100EE7FC1D07832764183E230CF748316B6</vt:lpwstr>
  </property>
  <property fmtid="{D5CDD505-2E9C-101B-9397-08002B2CF9AE}" pid="4" name="NSCPROP_SA">
    <vt:lpwstr>http://teamdocs.mosaic.sec.samsung.net/sites/COMTY_4026902/MENU_4026902_4026907/Shared%20Documents/팀관리/180411%20팀%20간담회/DI팀_간담회_180409v01.pptx</vt:lpwstr>
  </property>
</Properties>
</file>