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63" r:id="rId6"/>
    <p:sldId id="264" r:id="rId7"/>
    <p:sldId id="260" r:id="rId8"/>
  </p:sldIdLst>
  <p:sldSz cx="6858000" cy="8572500"/>
  <p:notesSz cx="8572500" cy="6858000"/>
  <p:embeddedFontLst>
    <p:embeddedFont>
      <p:font typeface="Freesentation 6 SemiBold" charset="-127"/>
      <p:regular r:id="rId10"/>
      <p:bold r:id="rId11"/>
    </p:embeddedFont>
    <p:embeddedFont>
      <p:font typeface="Pretendard" panose="020B0600000101010101" charset="-127"/>
      <p:regular r:id="rId12"/>
      <p:bold r:id="rId13"/>
    </p:embeddedFont>
    <p:embeddedFont>
      <p:font typeface="Pretendard ExtraBold" panose="020B0600000101010101" charset="-127"/>
      <p:bold r:id="rId14"/>
    </p:embeddedFont>
    <p:embeddedFont>
      <p:font typeface="Pretendard Light" panose="020B0600000101010101" charset="-127"/>
      <p:regular r:id="rId15"/>
    </p:embeddedFont>
    <p:embeddedFont>
      <p:font typeface="Pretendard Medium" panose="020B0600000101010101" charset="-127"/>
      <p:regular r:id="rId16"/>
    </p:embeddedFont>
    <p:embeddedFont>
      <p:font typeface="Pretendard SemiBold" panose="020B0600000101010101" charset="-127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D7"/>
    <a:srgbClr val="006BC5"/>
    <a:srgbClr val="0083E6"/>
    <a:srgbClr val="008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0A0D8-D462-441B-B1AA-C84B8DADED93}" v="5" dt="2026-05-12T10:34:16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1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6/11/relationships/changesInfo" Target="changesInfos/changesInfo1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on731@naver.com" userId="67b18f60d1b85dcf" providerId="LiveId" clId="{5AD6CF1A-F961-4F85-989E-303F0F312D6B}"/>
    <pc:docChg chg="custSel modSld">
      <pc:chgData name="canon731@naver.com" userId="67b18f60d1b85dcf" providerId="LiveId" clId="{5AD6CF1A-F961-4F85-989E-303F0F312D6B}" dt="2026-05-12T10:35:21.969" v="246" actId="20577"/>
      <pc:docMkLst>
        <pc:docMk/>
      </pc:docMkLst>
      <pc:sldChg chg="modSp mod">
        <pc:chgData name="canon731@naver.com" userId="67b18f60d1b85dcf" providerId="LiveId" clId="{5AD6CF1A-F961-4F85-989E-303F0F312D6B}" dt="2026-05-12T09:10:18.673" v="24"/>
        <pc:sldMkLst>
          <pc:docMk/>
          <pc:sldMk cId="0" sldId="257"/>
        </pc:sldMkLst>
        <pc:spChg chg="mod">
          <ac:chgData name="canon731@naver.com" userId="67b18f60d1b85dcf" providerId="LiveId" clId="{5AD6CF1A-F961-4F85-989E-303F0F312D6B}" dt="2026-05-12T09:10:18.673" v="24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canon731@naver.com" userId="67b18f60d1b85dcf" providerId="LiveId" clId="{5AD6CF1A-F961-4F85-989E-303F0F312D6B}" dt="2026-05-12T09:11:27.108" v="25" actId="14100"/>
        <pc:sldMkLst>
          <pc:docMk/>
          <pc:sldMk cId="0" sldId="258"/>
        </pc:sldMkLst>
        <pc:spChg chg="mod">
          <ac:chgData name="canon731@naver.com" userId="67b18f60d1b85dcf" providerId="LiveId" clId="{5AD6CF1A-F961-4F85-989E-303F0F312D6B}" dt="2026-05-12T09:11:27.108" v="25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canon731@naver.com" userId="67b18f60d1b85dcf" providerId="LiveId" clId="{5AD6CF1A-F961-4F85-989E-303F0F312D6B}" dt="2026-05-12T09:10:04.944" v="18" actId="20577"/>
          <ac:spMkLst>
            <pc:docMk/>
            <pc:sldMk cId="0" sldId="258"/>
            <ac:spMk id="13" creationId="{00000000-0000-0000-0000-000000000000}"/>
          </ac:spMkLst>
        </pc:spChg>
      </pc:sldChg>
      <pc:sldChg chg="delSp modSp mod">
        <pc:chgData name="canon731@naver.com" userId="67b18f60d1b85dcf" providerId="LiveId" clId="{5AD6CF1A-F961-4F85-989E-303F0F312D6B}" dt="2026-05-12T09:09:36.084" v="17" actId="1076"/>
        <pc:sldMkLst>
          <pc:docMk/>
          <pc:sldMk cId="0" sldId="259"/>
        </pc:sldMkLst>
        <pc:spChg chg="mod">
          <ac:chgData name="canon731@naver.com" userId="67b18f60d1b85dcf" providerId="LiveId" clId="{5AD6CF1A-F961-4F85-989E-303F0F312D6B}" dt="2026-05-12T09:08:25.543" v="0"/>
          <ac:spMkLst>
            <pc:docMk/>
            <pc:sldMk cId="0" sldId="259"/>
            <ac:spMk id="9" creationId="{00000000-0000-0000-0000-000000000000}"/>
          </ac:spMkLst>
        </pc:spChg>
        <pc:spChg chg="mod">
          <ac:chgData name="canon731@naver.com" userId="67b18f60d1b85dcf" providerId="LiveId" clId="{5AD6CF1A-F961-4F85-989E-303F0F312D6B}" dt="2026-05-12T09:09:36.084" v="17" actId="1076"/>
          <ac:spMkLst>
            <pc:docMk/>
            <pc:sldMk cId="0" sldId="259"/>
            <ac:spMk id="14" creationId="{00000000-0000-0000-0000-000000000000}"/>
          </ac:spMkLst>
        </pc:spChg>
        <pc:spChg chg="del">
          <ac:chgData name="canon731@naver.com" userId="67b18f60d1b85dcf" providerId="LiveId" clId="{5AD6CF1A-F961-4F85-989E-303F0F312D6B}" dt="2026-05-12T09:08:46.759" v="1" actId="2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anon731@naver.com" userId="67b18f60d1b85dcf" providerId="LiveId" clId="{5AD6CF1A-F961-4F85-989E-303F0F312D6B}" dt="2026-05-12T09:09:32.149" v="16" actId="1076"/>
          <ac:spMkLst>
            <pc:docMk/>
            <pc:sldMk cId="0" sldId="259"/>
            <ac:spMk id="16" creationId="{00000000-0000-0000-0000-000000000000}"/>
          </ac:spMkLst>
        </pc:spChg>
      </pc:sldChg>
      <pc:sldChg chg="addSp modSp mod">
        <pc:chgData name="canon731@naver.com" userId="67b18f60d1b85dcf" providerId="LiveId" clId="{5AD6CF1A-F961-4F85-989E-303F0F312D6B}" dt="2026-05-12T10:35:21.969" v="246" actId="20577"/>
        <pc:sldMkLst>
          <pc:docMk/>
          <pc:sldMk cId="0" sldId="260"/>
        </pc:sldMkLst>
        <pc:spChg chg="mod">
          <ac:chgData name="canon731@naver.com" userId="67b18f60d1b85dcf" providerId="LiveId" clId="{5AD6CF1A-F961-4F85-989E-303F0F312D6B}" dt="2026-05-12T09:11:43.360" v="26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canon731@naver.com" userId="67b18f60d1b85dcf" providerId="LiveId" clId="{5AD6CF1A-F961-4F85-989E-303F0F312D6B}" dt="2026-05-12T10:35:21.969" v="246" actId="20577"/>
          <ac:spMkLst>
            <pc:docMk/>
            <pc:sldMk cId="0" sldId="260"/>
            <ac:spMk id="6" creationId="{00000000-0000-0000-0000-000000000000}"/>
          </ac:spMkLst>
        </pc:spChg>
        <pc:picChg chg="add mod">
          <ac:chgData name="canon731@naver.com" userId="67b18f60d1b85dcf" providerId="LiveId" clId="{5AD6CF1A-F961-4F85-989E-303F0F312D6B}" dt="2026-05-12T10:34:54.300" v="235" actId="1076"/>
          <ac:picMkLst>
            <pc:docMk/>
            <pc:sldMk cId="0" sldId="260"/>
            <ac:picMk id="8" creationId="{4C6CF362-1FDB-C6AC-B491-5443DCA2F015}"/>
          </ac:picMkLst>
        </pc:picChg>
        <pc:picChg chg="add mod">
          <ac:chgData name="canon731@naver.com" userId="67b18f60d1b85dcf" providerId="LiveId" clId="{5AD6CF1A-F961-4F85-989E-303F0F312D6B}" dt="2026-05-12T10:35:18.457" v="244" actId="1076"/>
          <ac:picMkLst>
            <pc:docMk/>
            <pc:sldMk cId="0" sldId="260"/>
            <ac:picMk id="10" creationId="{25EE095F-7B3F-055D-B143-D0552A9CF8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95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8D789-AC1A-A8FB-DE1B-B31C3AD6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F35AE-679C-516D-9709-D7D56D3AA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CD3FB-2C80-BBC9-F944-2D2AB6FEE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EDA8F-7480-5F9F-A9D7-0BAB2E795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31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2C56-B32F-BBF7-34AC-F2A948D6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147D5-5938-FB89-1B2E-1BE311FF4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9E4A7-32BB-11ED-EAAF-4F03DEF6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A129A-37C4-4F06-991B-5A3D60E7C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8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D12E-C3DB-F2CA-1856-85226439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5467E-B10C-BF6B-E736-745256515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DECCA-2083-E5DC-4ABE-10D10BED6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3417C-E7BA-824C-B831-E8083B4A5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5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B1CB-E0F7-4B33-49D0-4447AB47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CA61-EE43-1701-D2CA-411EDD064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28106-B049-1962-1436-0F7929E55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39D4-9DC2-2C31-76AE-68274B053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42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DIVE-Researc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1480" y="956361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054963"/>
            <a:ext cx="60350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0" b="1" spc="-150" dirty="0">
                <a:solidFill>
                  <a:srgbClr val="0083E6"/>
                </a:solidFill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DIVE 4기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0" b="1" spc="-1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신규부원</a:t>
            </a:r>
            <a:endParaRPr lang="en-US" sz="8000" b="1" spc="-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0" b="1" spc="-1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모집 안내</a:t>
            </a:r>
            <a:endParaRPr lang="en-US" sz="8000" b="1" spc="-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46841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Arial" pitchFamily="34" charset="0"/>
                <a:ea typeface="Arial" pitchFamily="34" charset="-122"/>
                <a:cs typeface="Arial" pitchFamily="34" charset="-120"/>
              </a:rPr>
              <a:t>DATA INSIGHTS &amp; VALUE EXPLORATION</a:t>
            </a:r>
            <a:endParaRPr lang="en-US" sz="1400"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8FDFF6F-C1FF-A0D7-31D3-0E8BB50881D3}"/>
              </a:ext>
            </a:extLst>
          </p:cNvPr>
          <p:cNvSpPr/>
          <p:nvPr/>
        </p:nvSpPr>
        <p:spPr>
          <a:xfrm>
            <a:off x="411480" y="6662894"/>
            <a:ext cx="6035040" cy="5791200"/>
          </a:xfrm>
          <a:prstGeom prst="roundRect">
            <a:avLst/>
          </a:prstGeom>
          <a:solidFill>
            <a:srgbClr val="007AD7">
              <a:alpha val="756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ABOUT DIVE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11480" y="644855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11480" y="2733649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41142" y="1001879"/>
            <a:ext cx="6035040" cy="138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10000"/>
              </a:lnSpc>
            </a:pPr>
            <a:r>
              <a:rPr lang="en-US" sz="27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DIVE</a:t>
            </a:r>
            <a:r>
              <a:rPr lang="ko-KR" altLang="en-US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는 데이터를 통해 비즈니스</a:t>
            </a:r>
            <a:r>
              <a:rPr lang="en-US" altLang="ko-KR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사회</a:t>
            </a:r>
            <a:r>
              <a:rPr lang="en-US" altLang="ko-KR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문화 등 다양한 영역에서 </a:t>
            </a:r>
            <a:r>
              <a:rPr lang="ko-KR" altLang="en-US" sz="27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나은 가치와 의사결정</a:t>
            </a:r>
            <a:r>
              <a:rPr lang="ko-KR" altLang="en-US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이끌어내는 데이터 분석 팀입니다</a:t>
            </a:r>
            <a:r>
              <a:rPr lang="en-US" altLang="ko-KR" sz="2700" spc="-15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lang="en-US" sz="2700" spc="-15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D87DAA5-9D6E-2486-F6E5-75BC77F762C6}"/>
              </a:ext>
            </a:extLst>
          </p:cNvPr>
          <p:cNvSpPr/>
          <p:nvPr/>
        </p:nvSpPr>
        <p:spPr>
          <a:xfrm>
            <a:off x="411480" y="3090673"/>
            <a:ext cx="1300089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521BE-ACA3-BD65-3155-F949EDF478A7}"/>
              </a:ext>
            </a:extLst>
          </p:cNvPr>
          <p:cNvSpPr txBox="1"/>
          <p:nvPr/>
        </p:nvSpPr>
        <p:spPr>
          <a:xfrm>
            <a:off x="411480" y="3768657"/>
            <a:ext cx="6035040" cy="80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애널리스트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역량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입증</a:t>
            </a:r>
            <a:endParaRPr lang="en-US" altLang="ko-KR" spc="-150" dirty="0">
              <a:solidFill>
                <a:srgbClr val="1A1A22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진로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전문성을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입증할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있는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산출물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제시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spc="-150" dirty="0" err="1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브랜딩</a:t>
            </a:r>
            <a:endParaRPr lang="en-US" altLang="ko-KR" sz="1800" spc="-150" dirty="0">
              <a:solidFill>
                <a:srgbClr val="1A1A22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165FEDA-E98B-C912-229F-9A142D553C5D}"/>
              </a:ext>
            </a:extLst>
          </p:cNvPr>
          <p:cNvSpPr/>
          <p:nvPr/>
        </p:nvSpPr>
        <p:spPr>
          <a:xfrm>
            <a:off x="411480" y="5100128"/>
            <a:ext cx="1300089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학습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68BBB-AD3F-EF1A-424B-C5251D123822}"/>
              </a:ext>
            </a:extLst>
          </p:cNvPr>
          <p:cNvSpPr txBox="1"/>
          <p:nvPr/>
        </p:nvSpPr>
        <p:spPr>
          <a:xfrm>
            <a:off x="411480" y="5826369"/>
            <a:ext cx="6035040" cy="42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800" b="1" spc="-150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공모전 수상 </a:t>
            </a:r>
            <a:r>
              <a:rPr lang="ko-KR" altLang="en-US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</a:t>
            </a:r>
            <a:r>
              <a:rPr lang="en-US" altLang="ko-KR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800" b="1" spc="-150" dirty="0">
                <a:solidFill>
                  <a:srgbClr val="1A1A2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KCI / SCIE / SSCI </a:t>
            </a:r>
            <a:r>
              <a:rPr lang="ko-KR" altLang="en-US" sz="1800" b="1" spc="-150" dirty="0">
                <a:solidFill>
                  <a:srgbClr val="1A1A2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연구논문 작성</a:t>
            </a:r>
            <a:r>
              <a:rPr lang="ko-KR" altLang="en-US" sz="1800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목표로 학습 진행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E9573D6-B4EF-3552-EF5B-09B7380839C9}"/>
              </a:ext>
            </a:extLst>
          </p:cNvPr>
          <p:cNvSpPr/>
          <p:nvPr/>
        </p:nvSpPr>
        <p:spPr>
          <a:xfrm>
            <a:off x="411480" y="6772632"/>
            <a:ext cx="1300089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진행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5AC50-F0FC-7189-D8F4-4F6CEE1700F7}"/>
              </a:ext>
            </a:extLst>
          </p:cNvPr>
          <p:cNvSpPr txBox="1"/>
          <p:nvPr/>
        </p:nvSpPr>
        <p:spPr>
          <a:xfrm>
            <a:off x="411480" y="7498873"/>
            <a:ext cx="6035040" cy="42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pc="-15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분기 내  하고 싶은 산출물을 선택하고 교수님과 의논하며 발전시킴</a:t>
            </a:r>
            <a:endParaRPr lang="ko-KR" altLang="en-US" sz="1800" spc="-150" dirty="0">
              <a:solidFill>
                <a:srgbClr val="1A1A22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8D49-15B9-3CE4-5DBC-8EE7FEED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51FBCF-055C-6646-0D51-F0EEA98192F6}"/>
              </a:ext>
            </a:extLst>
          </p:cNvPr>
          <p:cNvSpPr/>
          <p:nvPr/>
        </p:nvSpPr>
        <p:spPr>
          <a:xfrm>
            <a:off x="411480" y="274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400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r>
              <a:rPr lang="ko-KR" altLang="en-US" sz="1400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년 </a:t>
            </a:r>
            <a:r>
              <a:rPr lang="en-US" altLang="ko-KR" sz="1400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DIVE</a:t>
            </a:r>
            <a:r>
              <a:rPr lang="ko-KR" altLang="en-US" sz="1400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의 성과</a:t>
            </a:r>
            <a:endParaRPr lang="en-US" sz="1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A998C5-F008-B6EB-6BE9-5419B5DAD271}"/>
              </a:ext>
            </a:extLst>
          </p:cNvPr>
          <p:cNvSpPr/>
          <p:nvPr/>
        </p:nvSpPr>
        <p:spPr>
          <a:xfrm>
            <a:off x="411480" y="644855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75B51F-95AA-41B5-CADC-1693D92485A3}"/>
              </a:ext>
            </a:extLst>
          </p:cNvPr>
          <p:cNvSpPr/>
          <p:nvPr/>
        </p:nvSpPr>
        <p:spPr>
          <a:xfrm>
            <a:off x="411480" y="2687349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1A9CBC-7C0B-A4D3-8883-6C0574EBF9AD}"/>
              </a:ext>
            </a:extLst>
          </p:cNvPr>
          <p:cNvSpPr/>
          <p:nvPr/>
        </p:nvSpPr>
        <p:spPr>
          <a:xfrm>
            <a:off x="411480" y="955579"/>
            <a:ext cx="5964702" cy="138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KCI </a:t>
            </a:r>
            <a:r>
              <a:rPr lang="ko-KR" altLang="en-US" sz="40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등재 논문 </a:t>
            </a:r>
            <a:r>
              <a:rPr lang="en-US" altLang="ko-KR" sz="4000" spc="-15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5건,</a:t>
            </a:r>
          </a:p>
          <a:p>
            <a:r>
              <a:rPr lang="ko-KR" altLang="en-US" sz="40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공모전 </a:t>
            </a:r>
            <a:r>
              <a:rPr lang="en-US" altLang="ko-KR" sz="40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40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경진대회 수상 </a:t>
            </a:r>
            <a:r>
              <a:rPr lang="en-US" altLang="ko-KR" sz="4000" spc="-15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6건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249EE62-6FB2-F339-0946-2185F032E82B}"/>
              </a:ext>
            </a:extLst>
          </p:cNvPr>
          <p:cNvSpPr/>
          <p:nvPr/>
        </p:nvSpPr>
        <p:spPr>
          <a:xfrm>
            <a:off x="411480" y="2983886"/>
            <a:ext cx="1891882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KCI </a:t>
            </a:r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논문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25C0EA3-D282-4888-2FD7-6E7A3671560A}"/>
              </a:ext>
            </a:extLst>
          </p:cNvPr>
          <p:cNvSpPr/>
          <p:nvPr/>
        </p:nvSpPr>
        <p:spPr>
          <a:xfrm>
            <a:off x="411480" y="5622576"/>
            <a:ext cx="1891882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수상 내역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14DAAB-2066-0CDC-5AA5-F18DABA0F435}"/>
              </a:ext>
            </a:extLst>
          </p:cNvPr>
          <p:cNvSpPr txBox="1"/>
          <p:nvPr/>
        </p:nvSpPr>
        <p:spPr>
          <a:xfrm>
            <a:off x="411480" y="3610280"/>
            <a:ext cx="5964702" cy="172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en-US" altLang="ko-KR" sz="1400" spc="-150" dirty="0" err="1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한국빅데이터학회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설명가능한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인공지능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혼잡도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예측과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정책적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애널리틱스</a:t>
            </a:r>
            <a:endParaRPr lang="en-US" altLang="ko-KR" sz="1400" spc="-150" dirty="0"/>
          </a:p>
          <a:p>
            <a:pPr algn="l"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en-US" altLang="ko-KR" sz="1400" spc="-150" dirty="0" err="1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한국빅데이터학회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딥러닝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교통수요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endParaRPr lang="en-US" altLang="ko-KR" sz="1400" spc="-150" dirty="0"/>
          </a:p>
          <a:p>
            <a:pPr algn="l"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en-US" altLang="ko-KR" sz="1400" spc="-150" dirty="0" err="1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한국빅데이터학회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설명가능한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비형식학습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특성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altLang="ko-KR" sz="1400" spc="-150" dirty="0"/>
          </a:p>
          <a:p>
            <a:pPr algn="l"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en-US" altLang="ko-KR" sz="1400" spc="-150" dirty="0" err="1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한국경영과학회지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비형식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평생학습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설명가능한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</a:t>
            </a:r>
            <a:endParaRPr lang="en-US" altLang="ko-KR" sz="1400" spc="-150" dirty="0"/>
          </a:p>
          <a:p>
            <a:pPr algn="l"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en-US" altLang="ko-KR" sz="1400" spc="-150" dirty="0" err="1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한국재무관리학회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마이닝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분석을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통한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한국의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환율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endParaRPr lang="en-US" altLang="ko-KR" sz="1400" spc="-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46D9A-872D-1B43-70E3-A0143BC77D8A}"/>
              </a:ext>
            </a:extLst>
          </p:cNvPr>
          <p:cNvSpPr txBox="1"/>
          <p:nvPr/>
        </p:nvSpPr>
        <p:spPr>
          <a:xfrm>
            <a:off x="411480" y="6239662"/>
            <a:ext cx="5964702" cy="2012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최우수논문상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한국경영과학회 추계학술대회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설명가능한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평생학습 참여촉진 프로그램 정책 </a:t>
            </a:r>
            <a:endParaRPr lang="en-US" altLang="ko-KR" sz="1400" spc="-150" dirty="0">
              <a:solidFill>
                <a:srgbClr val="1A1A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최우수상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실리콘밸리 하계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테커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부트캠프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가상피팅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쇼핑몰 </a:t>
            </a:r>
            <a:endParaRPr lang="en-US" altLang="ko-KR" sz="1400" spc="-150" dirty="0">
              <a:solidFill>
                <a:srgbClr val="1A1A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최우수상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공간정보 활용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경진대회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안기다 버스</a:t>
            </a:r>
            <a:endParaRPr lang="en-US" altLang="ko-KR" sz="1400" spc="-150" dirty="0">
              <a:solidFill>
                <a:srgbClr val="1A1A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금상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인천대 산학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캡스톤디자인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경진대회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 카드 소비 패턴 예측 및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캐시백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최적화 </a:t>
            </a:r>
            <a:endParaRPr lang="en-US" altLang="ko-KR" sz="1400" spc="-150" dirty="0">
              <a:solidFill>
                <a:srgbClr val="1A1A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장려상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인문사회융합인재사업단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경진대회 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뿌리 기업 맞춤형 정책 지원 </a:t>
            </a:r>
            <a:r>
              <a:rPr lang="ko-KR" altLang="en-US" sz="1400" spc="-150" dirty="0" err="1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altLang="ko-KR" sz="1400" spc="-150" dirty="0">
              <a:solidFill>
                <a:srgbClr val="1A1A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ct val="120000"/>
              </a:lnSpc>
              <a:spcAft>
                <a:spcPts val="200"/>
              </a:spcAft>
              <a:buSzPct val="100000"/>
            </a:pP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[</a:t>
            </a:r>
            <a:r>
              <a:rPr lang="ko-KR" altLang="en-US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최우수상</a:t>
            </a:r>
            <a:r>
              <a:rPr lang="en-US" altLang="ko-KR" sz="1400" spc="-150" dirty="0">
                <a:solidFill>
                  <a:srgbClr val="007AD7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] 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</a:t>
            </a:r>
            <a:r>
              <a:rPr lang="en-US" altLang="ko-KR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r>
              <a:rPr lang="ko-KR" altLang="en-US" sz="1400" spc="-150" dirty="0">
                <a:solidFill>
                  <a:srgbClr val="1A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전공 심화 연구모임 성과발표회</a:t>
            </a:r>
            <a:endParaRPr lang="en-US" altLang="ko-KR" sz="1400" spc="-150" dirty="0"/>
          </a:p>
        </p:txBody>
      </p:sp>
    </p:spTree>
    <p:extLst>
      <p:ext uri="{BB962C8B-B14F-4D97-AF65-F5344CB8AC3E}">
        <p14:creationId xmlns:p14="http://schemas.microsoft.com/office/powerpoint/2010/main" val="228196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D85A-311D-E92A-BCE7-F962CF14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A6F4D84-405E-ABED-9F39-DA6A8D78FE14}"/>
              </a:ext>
            </a:extLst>
          </p:cNvPr>
          <p:cNvSpPr/>
          <p:nvPr/>
        </p:nvSpPr>
        <p:spPr>
          <a:xfrm>
            <a:off x="411480" y="511239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18AEC3-58B6-681D-9B60-C1F9D8D74630}"/>
              </a:ext>
            </a:extLst>
          </p:cNvPr>
          <p:cNvSpPr/>
          <p:nvPr/>
        </p:nvSpPr>
        <p:spPr>
          <a:xfrm>
            <a:off x="411480" y="1841480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43F6CF9-9EA7-50D6-51B5-012D70295BF2}"/>
              </a:ext>
            </a:extLst>
          </p:cNvPr>
          <p:cNvSpPr/>
          <p:nvPr/>
        </p:nvSpPr>
        <p:spPr>
          <a:xfrm>
            <a:off x="411479" y="2443567"/>
            <a:ext cx="2273847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모집 기간 및 인원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D3C71-5E6F-4E36-89C0-0E9165813ED6}"/>
              </a:ext>
            </a:extLst>
          </p:cNvPr>
          <p:cNvSpPr txBox="1"/>
          <p:nvPr/>
        </p:nvSpPr>
        <p:spPr>
          <a:xfrm>
            <a:off x="411480" y="3059322"/>
            <a:ext cx="6035040" cy="42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2026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 6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약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 내외</a:t>
            </a:r>
            <a:endParaRPr lang="en-US" altLang="ko-KR" sz="1800" spc="-150" dirty="0">
              <a:solidFill>
                <a:srgbClr val="1A1A22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B698DA5-A288-8FE5-E9F9-A395556216B3}"/>
              </a:ext>
            </a:extLst>
          </p:cNvPr>
          <p:cNvSpPr/>
          <p:nvPr/>
        </p:nvSpPr>
        <p:spPr>
          <a:xfrm>
            <a:off x="411480" y="3980758"/>
            <a:ext cx="1556216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지원자격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2621B5A-1F6D-9F79-3582-7F594AC6D031}"/>
              </a:ext>
            </a:extLst>
          </p:cNvPr>
          <p:cNvSpPr/>
          <p:nvPr/>
        </p:nvSpPr>
        <p:spPr>
          <a:xfrm>
            <a:off x="411480" y="669150"/>
            <a:ext cx="5964702" cy="1021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4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 안내</a:t>
            </a:r>
            <a:endParaRPr lang="en-US" altLang="ko-KR" sz="4400" spc="-150" dirty="0">
              <a:solidFill>
                <a:srgbClr val="007AD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A533B-7985-5ED7-BB6A-EDCF0FD103EF}"/>
              </a:ext>
            </a:extLst>
          </p:cNvPr>
          <p:cNvSpPr txBox="1"/>
          <p:nvPr/>
        </p:nvSpPr>
        <p:spPr>
          <a:xfrm>
            <a:off x="411479" y="4589507"/>
            <a:ext cx="6035040" cy="117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휴학 여부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전공 제한 없음 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무역학부 </a:t>
            </a:r>
            <a:r>
              <a:rPr lang="ko-KR" altLang="en-US" sz="1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주전공</a:t>
            </a: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부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복수전공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타학과</a:t>
            </a: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학생 모두 지원 가능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2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b="1" spc="-150" dirty="0">
                <a:solidFill>
                  <a:srgbClr val="1A1A2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데이터 분석 관련 또는 프로그래밍 도구 등을 활용하는 </a:t>
            </a:r>
            <a:r>
              <a:rPr lang="ko-KR" altLang="en-US" b="1" spc="-150" dirty="0" err="1">
                <a:solidFill>
                  <a:srgbClr val="1A1A2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교내외</a:t>
            </a:r>
            <a:r>
              <a:rPr lang="ko-KR" altLang="en-US" b="1" spc="-150" dirty="0">
                <a:solidFill>
                  <a:srgbClr val="1A1A2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수업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이수한 학생 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A8DAB08-78FA-E4BD-29C9-82A05CBD649D}"/>
              </a:ext>
            </a:extLst>
          </p:cNvPr>
          <p:cNvSpPr/>
          <p:nvPr/>
        </p:nvSpPr>
        <p:spPr>
          <a:xfrm>
            <a:off x="411479" y="6188897"/>
            <a:ext cx="1556216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우대사항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03F4C-7163-B0D3-AA72-289B467F7457}"/>
              </a:ext>
            </a:extLst>
          </p:cNvPr>
          <p:cNvSpPr txBox="1"/>
          <p:nvPr/>
        </p:nvSpPr>
        <p:spPr>
          <a:xfrm>
            <a:off x="411478" y="6797646"/>
            <a:ext cx="6035040" cy="80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이상 집중적인 활동을 위해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1~3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학년 우대</a:t>
            </a:r>
            <a:endParaRPr lang="en-US" altLang="ko-KR" spc="-150" dirty="0">
              <a:solidFill>
                <a:srgbClr val="1A1A22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 소그룹 미활동자</a:t>
            </a:r>
          </a:p>
        </p:txBody>
      </p:sp>
    </p:spTree>
    <p:extLst>
      <p:ext uri="{BB962C8B-B14F-4D97-AF65-F5344CB8AC3E}">
        <p14:creationId xmlns:p14="http://schemas.microsoft.com/office/powerpoint/2010/main" val="172084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FA02-A22C-B6A5-3B29-053043B1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8CADCED-355C-2E6B-908D-260477A121AA}"/>
              </a:ext>
            </a:extLst>
          </p:cNvPr>
          <p:cNvSpPr/>
          <p:nvPr/>
        </p:nvSpPr>
        <p:spPr>
          <a:xfrm>
            <a:off x="411480" y="511239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AA0A9A-D1D4-1D01-F23C-32B38DEEAB0E}"/>
              </a:ext>
            </a:extLst>
          </p:cNvPr>
          <p:cNvSpPr/>
          <p:nvPr/>
        </p:nvSpPr>
        <p:spPr>
          <a:xfrm>
            <a:off x="411480" y="1841480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7876EF3-C63C-D879-3F97-FD60F6A86586}"/>
              </a:ext>
            </a:extLst>
          </p:cNvPr>
          <p:cNvSpPr/>
          <p:nvPr/>
        </p:nvSpPr>
        <p:spPr>
          <a:xfrm>
            <a:off x="411480" y="2443567"/>
            <a:ext cx="1556216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지원방법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D902D-F068-A852-A709-94F6D54A724D}"/>
              </a:ext>
            </a:extLst>
          </p:cNvPr>
          <p:cNvSpPr txBox="1"/>
          <p:nvPr/>
        </p:nvSpPr>
        <p:spPr>
          <a:xfrm>
            <a:off x="411480" y="3059322"/>
            <a:ext cx="6035040" cy="80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이후 온라인 또는 오프라인 면접 예정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 추후 안내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말 합격자 발표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3E4E03D-4643-40E7-17F5-A5F4AB58D18C}"/>
              </a:ext>
            </a:extLst>
          </p:cNvPr>
          <p:cNvSpPr/>
          <p:nvPr/>
        </p:nvSpPr>
        <p:spPr>
          <a:xfrm>
            <a:off x="411480" y="669150"/>
            <a:ext cx="5964702" cy="1021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4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 안내</a:t>
            </a:r>
            <a:endParaRPr lang="en-US" altLang="ko-KR" sz="4400" spc="-150" dirty="0">
              <a:solidFill>
                <a:srgbClr val="007AD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42ADA-62EA-02F6-C75F-16CE588B2D7D}"/>
              </a:ext>
            </a:extLst>
          </p:cNvPr>
          <p:cNvSpPr txBox="1"/>
          <p:nvPr/>
        </p:nvSpPr>
        <p:spPr>
          <a:xfrm>
            <a:off x="1677675" y="3978855"/>
            <a:ext cx="3432312" cy="31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이외  사항은 아래 오픈채팅방으로 문의 부탁드립니다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12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DE59B31-43A0-8239-2042-EDECE89D68E8}"/>
              </a:ext>
            </a:extLst>
          </p:cNvPr>
          <p:cNvSpPr/>
          <p:nvPr/>
        </p:nvSpPr>
        <p:spPr>
          <a:xfrm>
            <a:off x="411480" y="4823098"/>
            <a:ext cx="1556216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 err="1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지원폼</a:t>
            </a:r>
            <a:endParaRPr kumimoji="1" lang="ko-KR" altLang="en-US" sz="2200" b="1" dirty="0">
              <a:solidFill>
                <a:schemeClr val="bg1"/>
              </a:solidFill>
              <a:latin typeface="Freesentation 6 SemiBold" pitchFamily="2" charset="-127"/>
              <a:ea typeface="Freesentation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82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EC972-1945-BAFE-4FE2-73B76B94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52D5B6B-CDF9-FA3A-965B-D90857F37DC4}"/>
              </a:ext>
            </a:extLst>
          </p:cNvPr>
          <p:cNvSpPr/>
          <p:nvPr/>
        </p:nvSpPr>
        <p:spPr>
          <a:xfrm>
            <a:off x="411480" y="511239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A41574-17CC-D746-3EAE-A74ABBD17754}"/>
              </a:ext>
            </a:extLst>
          </p:cNvPr>
          <p:cNvSpPr/>
          <p:nvPr/>
        </p:nvSpPr>
        <p:spPr>
          <a:xfrm>
            <a:off x="411480" y="1841480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C08865D-8A66-1102-E914-500C7EA297BC}"/>
              </a:ext>
            </a:extLst>
          </p:cNvPr>
          <p:cNvSpPr/>
          <p:nvPr/>
        </p:nvSpPr>
        <p:spPr>
          <a:xfrm>
            <a:off x="411479" y="2443567"/>
            <a:ext cx="2225703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김경원 교수님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B8710-45DF-A606-A67F-C0EB9E87B9C7}"/>
              </a:ext>
            </a:extLst>
          </p:cNvPr>
          <p:cNvSpPr txBox="1"/>
          <p:nvPr/>
        </p:nvSpPr>
        <p:spPr>
          <a:xfrm>
            <a:off x="411480" y="3059322"/>
            <a:ext cx="6035040" cy="80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이후 온라인 또는 오프라인 면접 예정 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 추후 안내</a:t>
            </a: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pc="-150" dirty="0">
                <a:solidFill>
                  <a:srgbClr val="1A1A2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말 합격자 발표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6190950-CFE3-0887-C47D-435007072C1C}"/>
              </a:ext>
            </a:extLst>
          </p:cNvPr>
          <p:cNvSpPr/>
          <p:nvPr/>
        </p:nvSpPr>
        <p:spPr>
          <a:xfrm>
            <a:off x="411480" y="669150"/>
            <a:ext cx="5964702" cy="1021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spc="-150" dirty="0">
                <a:solidFill>
                  <a:srgbClr val="007AD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CONTACT</a:t>
            </a:r>
            <a:endParaRPr lang="en-US" altLang="ko-KR" sz="4400" spc="-150" dirty="0">
              <a:solidFill>
                <a:srgbClr val="007AD7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0DEC4-05A7-C713-1122-5DEFF1A13FB9}"/>
              </a:ext>
            </a:extLst>
          </p:cNvPr>
          <p:cNvSpPr txBox="1"/>
          <p:nvPr/>
        </p:nvSpPr>
        <p:spPr>
          <a:xfrm>
            <a:off x="1677675" y="3978855"/>
            <a:ext cx="3432312" cy="31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이외  사항은 오픈채팅방으로 문의 부탁드립니다</a:t>
            </a:r>
            <a:r>
              <a:rPr lang="en-US" altLang="ko-KR" sz="1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1200" spc="-15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EC658FA8-93AE-E169-E34B-DBAA0421BB5B}"/>
              </a:ext>
            </a:extLst>
          </p:cNvPr>
          <p:cNvSpPr/>
          <p:nvPr/>
        </p:nvSpPr>
        <p:spPr>
          <a:xfrm>
            <a:off x="411480" y="4823098"/>
            <a:ext cx="1556216" cy="498942"/>
          </a:xfrm>
          <a:prstGeom prst="roundRect">
            <a:avLst>
              <a:gd name="adj" fmla="val 50000"/>
            </a:avLst>
          </a:prstGeom>
          <a:solidFill>
            <a:srgbClr val="007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200" b="1" dirty="0" err="1">
                <a:solidFill>
                  <a:schemeClr val="bg1"/>
                </a:solidFill>
                <a:latin typeface="Freesentation 6 SemiBold" pitchFamily="2" charset="-127"/>
                <a:ea typeface="Freesentation 6 SemiBold" pitchFamily="2" charset="-127"/>
              </a:rPr>
              <a:t>지원폼</a:t>
            </a:r>
            <a:endParaRPr kumimoji="1" lang="ko-KR" altLang="en-US" sz="2200" b="1" dirty="0">
              <a:solidFill>
                <a:schemeClr val="bg1"/>
              </a:solidFill>
              <a:latin typeface="Freesentation 6 SemiBold" pitchFamily="2" charset="-127"/>
              <a:ea typeface="Freesentation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06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566928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80944"/>
            <a:ext cx="6035040" cy="7315"/>
          </a:xfrm>
          <a:prstGeom prst="rect">
            <a:avLst/>
          </a:prstGeom>
          <a:solidFill>
            <a:srgbClr val="D8D8E0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3072383"/>
            <a:ext cx="6035040" cy="3429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폼</a:t>
            </a:r>
            <a:endParaRPr lang="en-US" altLang="ko-KR" sz="1300" b="1" dirty="0">
              <a:solidFill>
                <a:srgbClr val="0000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300" b="1" dirty="0">
              <a:solidFill>
                <a:srgbClr val="0000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300" b="1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</a:t>
            </a: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사이트</a:t>
            </a:r>
            <a:endParaRPr lang="en-US" sz="13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https://sites.google.com/view/thekimk</a:t>
            </a:r>
            <a:endParaRPr lang="en-US" sz="13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</a:p>
          <a:p>
            <a:pPr marL="0" indent="0" algn="l">
              <a:lnSpc>
                <a:spcPct val="160000"/>
              </a:lnSpc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3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DIVE 홈페이지</a:t>
            </a:r>
            <a:endParaRPr lang="en-US" sz="13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https://github.com/thekimk/DIVE-Research</a:t>
            </a:r>
            <a:endParaRPr lang="en-US" sz="1300" dirty="0">
              <a:solidFill>
                <a:srgbClr val="1A1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300" dirty="0">
              <a:solidFill>
                <a:srgbClr val="1A1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300" dirty="0">
              <a:solidFill>
                <a:srgbClr val="1A1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1A1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sz="1300" dirty="0">
              <a:solidFill>
                <a:srgbClr val="1A1A22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en-US" altLang="ko-KR" sz="1300" dirty="0">
              <a:solidFill>
                <a:srgbClr val="1A1A22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6CF362-1FDB-C6AC-B491-5443DCA2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217" y="3584972"/>
            <a:ext cx="998934" cy="9989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5EE095F-7B3F-055D-B143-D0552A9CF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217" y="4842803"/>
            <a:ext cx="1109737" cy="1109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403</Words>
  <Application>Microsoft Office PowerPoint</Application>
  <PresentationFormat>사용자 지정</PresentationFormat>
  <Paragraphs>71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Arial</vt:lpstr>
      <vt:lpstr>Pretendard Medium</vt:lpstr>
      <vt:lpstr>Pretendard SemiBold</vt:lpstr>
      <vt:lpstr>Freesentation 6 SemiBold</vt:lpstr>
      <vt:lpstr>Pretendard ExtraBold</vt:lpstr>
      <vt:lpstr>Pretendard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canon731@naver.com</cp:lastModifiedBy>
  <cp:revision>4</cp:revision>
  <dcterms:created xsi:type="dcterms:W3CDTF">2026-05-12T04:56:11Z</dcterms:created>
  <dcterms:modified xsi:type="dcterms:W3CDTF">2026-05-12T12:07:45Z</dcterms:modified>
</cp:coreProperties>
</file>